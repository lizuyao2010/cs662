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06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guyen\Desktop\TriS-Experimen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500</c:v>
                </c:pt>
              </c:strCache>
            </c:strRef>
          </c:tx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Sheet1!$C$5:$Q$5</c:f>
              <c:numCache>
                <c:formatCode>General</c:formatCode>
                <c:ptCount val="15"/>
                <c:pt idx="0">
                  <c:v>47.26</c:v>
                </c:pt>
                <c:pt idx="1">
                  <c:v>47.72</c:v>
                </c:pt>
                <c:pt idx="2">
                  <c:v>48.35</c:v>
                </c:pt>
                <c:pt idx="3">
                  <c:v>48.77</c:v>
                </c:pt>
                <c:pt idx="4">
                  <c:v>48.74</c:v>
                </c:pt>
                <c:pt idx="5">
                  <c:v>48.77</c:v>
                </c:pt>
                <c:pt idx="6">
                  <c:v>48.76</c:v>
                </c:pt>
                <c:pt idx="7">
                  <c:v>48.77</c:v>
                </c:pt>
                <c:pt idx="8">
                  <c:v>48.62</c:v>
                </c:pt>
                <c:pt idx="9">
                  <c:v>48.55</c:v>
                </c:pt>
                <c:pt idx="10">
                  <c:v>48.72</c:v>
                </c:pt>
                <c:pt idx="11">
                  <c:v>48.8</c:v>
                </c:pt>
                <c:pt idx="12">
                  <c:v>48.83</c:v>
                </c:pt>
                <c:pt idx="13">
                  <c:v>48.73</c:v>
                </c:pt>
                <c:pt idx="14">
                  <c:v>48.77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300</c:v>
                </c:pt>
              </c:strCache>
            </c:strRef>
          </c:tx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Sheet1!$C$6:$Q$6</c:f>
              <c:numCache>
                <c:formatCode>General</c:formatCode>
                <c:ptCount val="15"/>
                <c:pt idx="0">
                  <c:v>46.66</c:v>
                </c:pt>
                <c:pt idx="1">
                  <c:v>47.53</c:v>
                </c:pt>
                <c:pt idx="2">
                  <c:v>48.08</c:v>
                </c:pt>
                <c:pt idx="3">
                  <c:v>48.12</c:v>
                </c:pt>
                <c:pt idx="4">
                  <c:v>48.38</c:v>
                </c:pt>
                <c:pt idx="5">
                  <c:v>48.43</c:v>
                </c:pt>
                <c:pt idx="6">
                  <c:v>48.41</c:v>
                </c:pt>
                <c:pt idx="7">
                  <c:v>48.51</c:v>
                </c:pt>
                <c:pt idx="8">
                  <c:v>48.53</c:v>
                </c:pt>
                <c:pt idx="9">
                  <c:v>48.85</c:v>
                </c:pt>
                <c:pt idx="10">
                  <c:v>48.9</c:v>
                </c:pt>
                <c:pt idx="11">
                  <c:v>48.87</c:v>
                </c:pt>
                <c:pt idx="12">
                  <c:v>48.85</c:v>
                </c:pt>
                <c:pt idx="13">
                  <c:v>49</c:v>
                </c:pt>
                <c:pt idx="14">
                  <c:v>49.01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Sheet1!$A$7</c:f>
              <c:strCache>
                <c:ptCount val="1"/>
                <c:pt idx="0">
                  <c:v>200</c:v>
                </c:pt>
              </c:strCache>
            </c:strRef>
          </c:tx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Sheet1!$C$7:$Q$7</c:f>
              <c:numCache>
                <c:formatCode>General</c:formatCode>
                <c:ptCount val="15"/>
                <c:pt idx="0">
                  <c:v>48.98</c:v>
                </c:pt>
                <c:pt idx="1">
                  <c:v>48</c:v>
                </c:pt>
                <c:pt idx="2">
                  <c:v>47.91</c:v>
                </c:pt>
                <c:pt idx="3">
                  <c:v>48.07</c:v>
                </c:pt>
                <c:pt idx="4">
                  <c:v>48.33</c:v>
                </c:pt>
                <c:pt idx="5">
                  <c:v>48.38</c:v>
                </c:pt>
                <c:pt idx="6">
                  <c:v>48.31</c:v>
                </c:pt>
                <c:pt idx="7">
                  <c:v>48.5</c:v>
                </c:pt>
                <c:pt idx="8">
                  <c:v>48.44</c:v>
                </c:pt>
                <c:pt idx="9">
                  <c:v>48.58</c:v>
                </c:pt>
                <c:pt idx="10">
                  <c:v>48.62</c:v>
                </c:pt>
                <c:pt idx="11">
                  <c:v>48.77</c:v>
                </c:pt>
                <c:pt idx="12">
                  <c:v>48.84</c:v>
                </c:pt>
                <c:pt idx="13">
                  <c:v>48.96</c:v>
                </c:pt>
                <c:pt idx="14">
                  <c:v>48.97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Sheet1!$A$8</c:f>
              <c:strCache>
                <c:ptCount val="1"/>
                <c:pt idx="0">
                  <c:v>100</c:v>
                </c:pt>
              </c:strCache>
            </c:strRef>
          </c:tx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Sheet1!$C$8:$Q$8</c:f>
              <c:numCache>
                <c:formatCode>General</c:formatCode>
                <c:ptCount val="15"/>
                <c:pt idx="0">
                  <c:v>47.43</c:v>
                </c:pt>
                <c:pt idx="1">
                  <c:v>48.53</c:v>
                </c:pt>
                <c:pt idx="2">
                  <c:v>48.53</c:v>
                </c:pt>
                <c:pt idx="3">
                  <c:v>48.42</c:v>
                </c:pt>
                <c:pt idx="4">
                  <c:v>48.53</c:v>
                </c:pt>
                <c:pt idx="5">
                  <c:v>48.68</c:v>
                </c:pt>
                <c:pt idx="6">
                  <c:v>48.59</c:v>
                </c:pt>
                <c:pt idx="7">
                  <c:v>48.56</c:v>
                </c:pt>
                <c:pt idx="8">
                  <c:v>48.72</c:v>
                </c:pt>
                <c:pt idx="9">
                  <c:v>48.68</c:v>
                </c:pt>
                <c:pt idx="10">
                  <c:v>48.81</c:v>
                </c:pt>
                <c:pt idx="11">
                  <c:v>48.82</c:v>
                </c:pt>
                <c:pt idx="12">
                  <c:v>48.81</c:v>
                </c:pt>
                <c:pt idx="13">
                  <c:v>48.98</c:v>
                </c:pt>
                <c:pt idx="14">
                  <c:v>49.03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Sheet1!$A$9</c:f>
              <c:strCache>
                <c:ptCount val="1"/>
                <c:pt idx="0">
                  <c:v>50</c:v>
                </c:pt>
              </c:strCache>
            </c:strRef>
          </c:tx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Sheet1!$C$9:$Q$9</c:f>
              <c:numCache>
                <c:formatCode>General</c:formatCode>
                <c:ptCount val="15"/>
                <c:pt idx="0">
                  <c:v>47.07</c:v>
                </c:pt>
                <c:pt idx="1">
                  <c:v>47.33</c:v>
                </c:pt>
                <c:pt idx="2">
                  <c:v>47.83</c:v>
                </c:pt>
                <c:pt idx="3">
                  <c:v>47.98</c:v>
                </c:pt>
                <c:pt idx="4">
                  <c:v>48.13</c:v>
                </c:pt>
                <c:pt idx="5">
                  <c:v>48.27</c:v>
                </c:pt>
                <c:pt idx="6">
                  <c:v>48.31</c:v>
                </c:pt>
                <c:pt idx="7">
                  <c:v>48.36</c:v>
                </c:pt>
                <c:pt idx="8">
                  <c:v>48.35</c:v>
                </c:pt>
                <c:pt idx="9">
                  <c:v>48.39</c:v>
                </c:pt>
                <c:pt idx="10">
                  <c:v>48.38</c:v>
                </c:pt>
                <c:pt idx="11">
                  <c:v>48.5</c:v>
                </c:pt>
                <c:pt idx="12">
                  <c:v>48.48</c:v>
                </c:pt>
                <c:pt idx="13">
                  <c:v>48.6</c:v>
                </c:pt>
                <c:pt idx="14">
                  <c:v>48.67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884096"/>
        <c:axId val="61647104"/>
      </c:lineChart>
      <c:catAx>
        <c:axId val="1148840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61647104"/>
        <c:crosses val="autoZero"/>
        <c:auto val="1"/>
        <c:lblAlgn val="ctr"/>
        <c:lblOffset val="100"/>
        <c:noMultiLvlLbl val="0"/>
      </c:catAx>
      <c:valAx>
        <c:axId val="61647104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400"/>
                  <a:t>AveF</a:t>
                </a:r>
                <a:r>
                  <a:rPr lang="en-US" sz="1400" baseline="-25000"/>
                  <a:t>10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48840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49664921465968598"/>
          <c:y val="0.53725964349243105"/>
          <c:w val="0.423071553228621"/>
          <c:h val="0.26671269171922202"/>
        </c:manualLayout>
      </c:layout>
      <c:overlay val="1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Sheet1!$A$16</c:f>
              <c:strCache>
                <c:ptCount val="1"/>
                <c:pt idx="0">
                  <c:v>100</c:v>
                </c:pt>
              </c:strCache>
            </c:strRef>
          </c:tx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Sheet1!$C$16:$Q$16</c:f>
              <c:numCache>
                <c:formatCode>General</c:formatCode>
                <c:ptCount val="15"/>
                <c:pt idx="0">
                  <c:v>48.98</c:v>
                </c:pt>
                <c:pt idx="1">
                  <c:v>48</c:v>
                </c:pt>
                <c:pt idx="2">
                  <c:v>47.91</c:v>
                </c:pt>
                <c:pt idx="3">
                  <c:v>48.07</c:v>
                </c:pt>
                <c:pt idx="4">
                  <c:v>48.33</c:v>
                </c:pt>
                <c:pt idx="5">
                  <c:v>48.38</c:v>
                </c:pt>
                <c:pt idx="6">
                  <c:v>48.31</c:v>
                </c:pt>
                <c:pt idx="7">
                  <c:v>48.5</c:v>
                </c:pt>
                <c:pt idx="8">
                  <c:v>48.44</c:v>
                </c:pt>
                <c:pt idx="9">
                  <c:v>48.58</c:v>
                </c:pt>
                <c:pt idx="10">
                  <c:v>48.62</c:v>
                </c:pt>
                <c:pt idx="11">
                  <c:v>48.77</c:v>
                </c:pt>
                <c:pt idx="12">
                  <c:v>48.84</c:v>
                </c:pt>
                <c:pt idx="13">
                  <c:v>48.96</c:v>
                </c:pt>
                <c:pt idx="14">
                  <c:v>48.97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Sheet1!$A$17</c:f>
              <c:strCache>
                <c:ptCount val="1"/>
                <c:pt idx="0">
                  <c:v>200</c:v>
                </c:pt>
              </c:strCache>
            </c:strRef>
          </c:tx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Sheet1!$C$17:$Q$17</c:f>
              <c:numCache>
                <c:formatCode>General</c:formatCode>
                <c:ptCount val="15"/>
                <c:pt idx="0">
                  <c:v>46.47</c:v>
                </c:pt>
                <c:pt idx="1">
                  <c:v>47.13</c:v>
                </c:pt>
                <c:pt idx="2">
                  <c:v>47.84</c:v>
                </c:pt>
                <c:pt idx="3">
                  <c:v>48.17</c:v>
                </c:pt>
                <c:pt idx="4">
                  <c:v>48.36</c:v>
                </c:pt>
                <c:pt idx="5">
                  <c:v>48.53</c:v>
                </c:pt>
                <c:pt idx="6">
                  <c:v>48.58</c:v>
                </c:pt>
                <c:pt idx="7">
                  <c:v>48.67</c:v>
                </c:pt>
                <c:pt idx="8">
                  <c:v>48.77</c:v>
                </c:pt>
                <c:pt idx="9">
                  <c:v>48.72</c:v>
                </c:pt>
                <c:pt idx="10">
                  <c:v>48.69</c:v>
                </c:pt>
                <c:pt idx="11">
                  <c:v>48.77</c:v>
                </c:pt>
                <c:pt idx="12">
                  <c:v>48.92</c:v>
                </c:pt>
                <c:pt idx="13">
                  <c:v>48.93</c:v>
                </c:pt>
                <c:pt idx="14">
                  <c:v>48.97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Sheet1!$A$18</c:f>
              <c:strCache>
                <c:ptCount val="1"/>
                <c:pt idx="0">
                  <c:v>300</c:v>
                </c:pt>
              </c:strCache>
            </c:strRef>
          </c:tx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Sheet1!$C$18:$Q$18</c:f>
              <c:numCache>
                <c:formatCode>General</c:formatCode>
                <c:ptCount val="15"/>
                <c:pt idx="0">
                  <c:v>46.36</c:v>
                </c:pt>
                <c:pt idx="1">
                  <c:v>47.32</c:v>
                </c:pt>
                <c:pt idx="2">
                  <c:v>47.53</c:v>
                </c:pt>
                <c:pt idx="3">
                  <c:v>47.8</c:v>
                </c:pt>
                <c:pt idx="4">
                  <c:v>48.14</c:v>
                </c:pt>
                <c:pt idx="5">
                  <c:v>48.41</c:v>
                </c:pt>
                <c:pt idx="6">
                  <c:v>48.58</c:v>
                </c:pt>
                <c:pt idx="7">
                  <c:v>48.68</c:v>
                </c:pt>
                <c:pt idx="8">
                  <c:v>48.88</c:v>
                </c:pt>
                <c:pt idx="9">
                  <c:v>48.87</c:v>
                </c:pt>
                <c:pt idx="10">
                  <c:v>48.97</c:v>
                </c:pt>
                <c:pt idx="11">
                  <c:v>49.09</c:v>
                </c:pt>
                <c:pt idx="12">
                  <c:v>49.16</c:v>
                </c:pt>
                <c:pt idx="13">
                  <c:v>49.17</c:v>
                </c:pt>
                <c:pt idx="14">
                  <c:v>49.19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Sheet1!$A$19</c:f>
              <c:strCache>
                <c:ptCount val="1"/>
                <c:pt idx="0">
                  <c:v>400</c:v>
                </c:pt>
              </c:strCache>
            </c:strRef>
          </c:tx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Sheet1!$C$19:$Q$19</c:f>
              <c:numCache>
                <c:formatCode>General</c:formatCode>
                <c:ptCount val="15"/>
                <c:pt idx="0">
                  <c:v>47.55</c:v>
                </c:pt>
                <c:pt idx="1">
                  <c:v>48.19</c:v>
                </c:pt>
                <c:pt idx="2">
                  <c:v>48.27</c:v>
                </c:pt>
                <c:pt idx="3">
                  <c:v>48.38</c:v>
                </c:pt>
                <c:pt idx="4">
                  <c:v>48.69</c:v>
                </c:pt>
                <c:pt idx="5">
                  <c:v>48.77</c:v>
                </c:pt>
                <c:pt idx="6">
                  <c:v>49.05</c:v>
                </c:pt>
                <c:pt idx="7">
                  <c:v>48.96</c:v>
                </c:pt>
                <c:pt idx="8">
                  <c:v>49.13</c:v>
                </c:pt>
                <c:pt idx="9">
                  <c:v>49.07</c:v>
                </c:pt>
                <c:pt idx="10">
                  <c:v>49.07</c:v>
                </c:pt>
                <c:pt idx="11">
                  <c:v>49.04</c:v>
                </c:pt>
                <c:pt idx="12">
                  <c:v>48.99</c:v>
                </c:pt>
                <c:pt idx="13">
                  <c:v>48.95</c:v>
                </c:pt>
                <c:pt idx="14">
                  <c:v>49.08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Sheet1!$A$20</c:f>
              <c:strCache>
                <c:ptCount val="1"/>
                <c:pt idx="0">
                  <c:v>500</c:v>
                </c:pt>
              </c:strCache>
            </c:strRef>
          </c:tx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Sheet1!$C$20:$Q$20</c:f>
              <c:numCache>
                <c:formatCode>General</c:formatCode>
                <c:ptCount val="15"/>
                <c:pt idx="0">
                  <c:v>47.14</c:v>
                </c:pt>
                <c:pt idx="1">
                  <c:v>47.57</c:v>
                </c:pt>
                <c:pt idx="2">
                  <c:v>47.98</c:v>
                </c:pt>
                <c:pt idx="3">
                  <c:v>48.21</c:v>
                </c:pt>
                <c:pt idx="4">
                  <c:v>48.54</c:v>
                </c:pt>
                <c:pt idx="5">
                  <c:v>48.75</c:v>
                </c:pt>
                <c:pt idx="6">
                  <c:v>48.75</c:v>
                </c:pt>
                <c:pt idx="7">
                  <c:v>48.94</c:v>
                </c:pt>
                <c:pt idx="8">
                  <c:v>49.11</c:v>
                </c:pt>
                <c:pt idx="9">
                  <c:v>48.95</c:v>
                </c:pt>
                <c:pt idx="10">
                  <c:v>48.94</c:v>
                </c:pt>
                <c:pt idx="11">
                  <c:v>48.98</c:v>
                </c:pt>
                <c:pt idx="12">
                  <c:v>49.06</c:v>
                </c:pt>
                <c:pt idx="13">
                  <c:v>49.09</c:v>
                </c:pt>
                <c:pt idx="14">
                  <c:v>49.15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529216"/>
        <c:axId val="61649408"/>
      </c:lineChart>
      <c:catAx>
        <c:axId val="1155292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61649408"/>
        <c:crosses val="autoZero"/>
        <c:auto val="1"/>
        <c:lblAlgn val="ctr"/>
        <c:lblOffset val="100"/>
        <c:noMultiLvlLbl val="0"/>
      </c:catAx>
      <c:valAx>
        <c:axId val="61649408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400"/>
                  <a:t>AveF</a:t>
                </a:r>
                <a:r>
                  <a:rPr lang="en-US" sz="1400" baseline="-25000"/>
                  <a:t>10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552921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4082239720034997"/>
          <c:y val="0.51843333560512495"/>
          <c:w val="0.35069116360454899"/>
          <c:h val="0.290897514793374"/>
        </c:manualLayout>
      </c:layout>
      <c:overlay val="1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Sheet1!$A$27</c:f>
              <c:strCache>
                <c:ptCount val="1"/>
                <c:pt idx="0">
                  <c:v>0.3</c:v>
                </c:pt>
              </c:strCache>
            </c:strRef>
          </c:tx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Sheet1!$C$27:$Q$27</c:f>
              <c:numCache>
                <c:formatCode>General</c:formatCode>
                <c:ptCount val="15"/>
                <c:pt idx="0">
                  <c:v>46.69</c:v>
                </c:pt>
                <c:pt idx="1">
                  <c:v>47.12</c:v>
                </c:pt>
                <c:pt idx="2">
                  <c:v>47.72</c:v>
                </c:pt>
                <c:pt idx="3">
                  <c:v>47.8</c:v>
                </c:pt>
                <c:pt idx="4">
                  <c:v>47.99</c:v>
                </c:pt>
                <c:pt idx="5">
                  <c:v>48.11</c:v>
                </c:pt>
                <c:pt idx="6">
                  <c:v>48.18</c:v>
                </c:pt>
                <c:pt idx="7">
                  <c:v>48.06</c:v>
                </c:pt>
                <c:pt idx="8">
                  <c:v>48.28</c:v>
                </c:pt>
                <c:pt idx="9">
                  <c:v>48.48</c:v>
                </c:pt>
                <c:pt idx="10">
                  <c:v>48.72</c:v>
                </c:pt>
                <c:pt idx="11">
                  <c:v>48.7</c:v>
                </c:pt>
                <c:pt idx="12">
                  <c:v>48.82</c:v>
                </c:pt>
                <c:pt idx="13">
                  <c:v>48.92</c:v>
                </c:pt>
                <c:pt idx="14">
                  <c:v>48.85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Sheet1!$A$28</c:f>
              <c:strCache>
                <c:ptCount val="1"/>
                <c:pt idx="0">
                  <c:v>0.2</c:v>
                </c:pt>
              </c:strCache>
            </c:strRef>
          </c:tx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Sheet1!$C$28:$Q$28</c:f>
              <c:numCache>
                <c:formatCode>General</c:formatCode>
                <c:ptCount val="15"/>
                <c:pt idx="0">
                  <c:v>47.73</c:v>
                </c:pt>
                <c:pt idx="1">
                  <c:v>47.58</c:v>
                </c:pt>
                <c:pt idx="2">
                  <c:v>47.83</c:v>
                </c:pt>
                <c:pt idx="3">
                  <c:v>48.07</c:v>
                </c:pt>
                <c:pt idx="4">
                  <c:v>48.07</c:v>
                </c:pt>
                <c:pt idx="5">
                  <c:v>48.1</c:v>
                </c:pt>
                <c:pt idx="6">
                  <c:v>48.26</c:v>
                </c:pt>
                <c:pt idx="7">
                  <c:v>48.32</c:v>
                </c:pt>
                <c:pt idx="8">
                  <c:v>48.4</c:v>
                </c:pt>
                <c:pt idx="9">
                  <c:v>48.54</c:v>
                </c:pt>
                <c:pt idx="10">
                  <c:v>48.57</c:v>
                </c:pt>
                <c:pt idx="11">
                  <c:v>48.64</c:v>
                </c:pt>
                <c:pt idx="12">
                  <c:v>48.68</c:v>
                </c:pt>
                <c:pt idx="13">
                  <c:v>48.87</c:v>
                </c:pt>
                <c:pt idx="14">
                  <c:v>48.88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Sheet1!$A$29</c:f>
              <c:strCache>
                <c:ptCount val="1"/>
                <c:pt idx="0">
                  <c:v>0.1</c:v>
                </c:pt>
              </c:strCache>
            </c:strRef>
          </c:tx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Sheet1!$C$29:$Q$29</c:f>
              <c:numCache>
                <c:formatCode>General</c:formatCode>
                <c:ptCount val="15"/>
                <c:pt idx="0">
                  <c:v>47.14</c:v>
                </c:pt>
                <c:pt idx="1">
                  <c:v>47.57</c:v>
                </c:pt>
                <c:pt idx="2">
                  <c:v>47.98</c:v>
                </c:pt>
                <c:pt idx="3">
                  <c:v>48.21</c:v>
                </c:pt>
                <c:pt idx="4">
                  <c:v>48.54</c:v>
                </c:pt>
                <c:pt idx="5">
                  <c:v>48.75</c:v>
                </c:pt>
                <c:pt idx="6">
                  <c:v>48.75</c:v>
                </c:pt>
                <c:pt idx="7">
                  <c:v>48.94</c:v>
                </c:pt>
                <c:pt idx="8">
                  <c:v>49.11</c:v>
                </c:pt>
                <c:pt idx="9">
                  <c:v>48.95</c:v>
                </c:pt>
                <c:pt idx="10">
                  <c:v>48.94</c:v>
                </c:pt>
                <c:pt idx="11">
                  <c:v>48.98</c:v>
                </c:pt>
                <c:pt idx="12">
                  <c:v>49.06</c:v>
                </c:pt>
                <c:pt idx="13">
                  <c:v>49.09</c:v>
                </c:pt>
                <c:pt idx="14">
                  <c:v>49.15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Sheet1!$A$30</c:f>
              <c:strCache>
                <c:ptCount val="1"/>
                <c:pt idx="0">
                  <c:v>0.07</c:v>
                </c:pt>
              </c:strCache>
            </c:strRef>
          </c:tx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Sheet1!$C$30:$Q$30</c:f>
              <c:numCache>
                <c:formatCode>General</c:formatCode>
                <c:ptCount val="15"/>
                <c:pt idx="0">
                  <c:v>48.08</c:v>
                </c:pt>
                <c:pt idx="1">
                  <c:v>48.45</c:v>
                </c:pt>
                <c:pt idx="2">
                  <c:v>48.57</c:v>
                </c:pt>
                <c:pt idx="3">
                  <c:v>48.73</c:v>
                </c:pt>
                <c:pt idx="4">
                  <c:v>48.41</c:v>
                </c:pt>
                <c:pt idx="5">
                  <c:v>48.61</c:v>
                </c:pt>
                <c:pt idx="6">
                  <c:v>48.68</c:v>
                </c:pt>
                <c:pt idx="7">
                  <c:v>48.82</c:v>
                </c:pt>
                <c:pt idx="8">
                  <c:v>48.84</c:v>
                </c:pt>
                <c:pt idx="9">
                  <c:v>48.9</c:v>
                </c:pt>
                <c:pt idx="10">
                  <c:v>48.81</c:v>
                </c:pt>
                <c:pt idx="11">
                  <c:v>48.85</c:v>
                </c:pt>
                <c:pt idx="12">
                  <c:v>48.86</c:v>
                </c:pt>
                <c:pt idx="13">
                  <c:v>48.95</c:v>
                </c:pt>
                <c:pt idx="14">
                  <c:v>49.07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Sheet1!$A$31</c:f>
              <c:strCache>
                <c:ptCount val="1"/>
                <c:pt idx="0">
                  <c:v>0.04</c:v>
                </c:pt>
              </c:strCache>
            </c:strRef>
          </c:tx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Sheet1!$C$31:$Q$31</c:f>
              <c:numCache>
                <c:formatCode>General</c:formatCode>
                <c:ptCount val="15"/>
                <c:pt idx="0">
                  <c:v>46.43</c:v>
                </c:pt>
                <c:pt idx="1">
                  <c:v>48.03</c:v>
                </c:pt>
                <c:pt idx="2">
                  <c:v>48.04</c:v>
                </c:pt>
                <c:pt idx="3">
                  <c:v>48.17</c:v>
                </c:pt>
                <c:pt idx="4">
                  <c:v>48.32</c:v>
                </c:pt>
                <c:pt idx="5">
                  <c:v>48.46</c:v>
                </c:pt>
                <c:pt idx="6">
                  <c:v>48.65</c:v>
                </c:pt>
                <c:pt idx="7">
                  <c:v>48.65</c:v>
                </c:pt>
                <c:pt idx="8">
                  <c:v>48.63</c:v>
                </c:pt>
                <c:pt idx="9">
                  <c:v>48.68</c:v>
                </c:pt>
                <c:pt idx="10">
                  <c:v>48.76</c:v>
                </c:pt>
                <c:pt idx="11">
                  <c:v>48.78</c:v>
                </c:pt>
                <c:pt idx="12">
                  <c:v>48.93</c:v>
                </c:pt>
                <c:pt idx="13">
                  <c:v>48.87</c:v>
                </c:pt>
                <c:pt idx="14">
                  <c:v>48.84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531264"/>
        <c:axId val="61651712"/>
      </c:lineChart>
      <c:catAx>
        <c:axId val="1155312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61651712"/>
        <c:crosses val="autoZero"/>
        <c:auto val="1"/>
        <c:lblAlgn val="ctr"/>
        <c:lblOffset val="100"/>
        <c:noMultiLvlLbl val="0"/>
      </c:catAx>
      <c:valAx>
        <c:axId val="61651712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AveF</a:t>
                </a:r>
                <a:r>
                  <a:rPr lang="en-US" sz="1400" baseline="-25000"/>
                  <a:t>10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55312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1993859775360995"/>
          <c:y val="0.53811837959395903"/>
          <c:w val="0.40735894958299901"/>
          <c:h val="0.27646502421087599"/>
        </c:manualLayout>
      </c:layout>
      <c:overlay val="1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Sheet1!$A$38</c:f>
              <c:strCache>
                <c:ptCount val="1"/>
                <c:pt idx="0">
                  <c:v>1</c:v>
                </c:pt>
              </c:strCache>
            </c:strRef>
          </c:tx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Sheet1!$C$38:$Q$38</c:f>
              <c:numCache>
                <c:formatCode>General</c:formatCode>
                <c:ptCount val="15"/>
                <c:pt idx="0">
                  <c:v>46.43</c:v>
                </c:pt>
                <c:pt idx="1">
                  <c:v>48.03</c:v>
                </c:pt>
                <c:pt idx="2">
                  <c:v>48.04</c:v>
                </c:pt>
                <c:pt idx="3">
                  <c:v>48.17</c:v>
                </c:pt>
                <c:pt idx="4">
                  <c:v>48.32</c:v>
                </c:pt>
                <c:pt idx="5">
                  <c:v>48.46</c:v>
                </c:pt>
                <c:pt idx="6">
                  <c:v>48.65</c:v>
                </c:pt>
                <c:pt idx="7">
                  <c:v>48.65</c:v>
                </c:pt>
                <c:pt idx="8">
                  <c:v>48.63</c:v>
                </c:pt>
                <c:pt idx="9">
                  <c:v>48.68</c:v>
                </c:pt>
                <c:pt idx="10">
                  <c:v>48.76</c:v>
                </c:pt>
                <c:pt idx="11">
                  <c:v>48.78</c:v>
                </c:pt>
                <c:pt idx="12">
                  <c:v>48.93</c:v>
                </c:pt>
                <c:pt idx="13">
                  <c:v>48.87</c:v>
                </c:pt>
                <c:pt idx="14">
                  <c:v>48.84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Sheet1!$A$39</c:f>
              <c:strCache>
                <c:ptCount val="1"/>
                <c:pt idx="0">
                  <c:v>2</c:v>
                </c:pt>
              </c:strCache>
            </c:strRef>
          </c:tx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Sheet1!$C$39:$Q$39</c:f>
              <c:numCache>
                <c:formatCode>General</c:formatCode>
                <c:ptCount val="15"/>
                <c:pt idx="0">
                  <c:v>47.19</c:v>
                </c:pt>
                <c:pt idx="1">
                  <c:v>47.69</c:v>
                </c:pt>
                <c:pt idx="2">
                  <c:v>48.23</c:v>
                </c:pt>
                <c:pt idx="3">
                  <c:v>48.55</c:v>
                </c:pt>
                <c:pt idx="4">
                  <c:v>48.8</c:v>
                </c:pt>
                <c:pt idx="5">
                  <c:v>48.91</c:v>
                </c:pt>
                <c:pt idx="6">
                  <c:v>49.04</c:v>
                </c:pt>
                <c:pt idx="7">
                  <c:v>49.1</c:v>
                </c:pt>
                <c:pt idx="8">
                  <c:v>49.15</c:v>
                </c:pt>
                <c:pt idx="9">
                  <c:v>49.23</c:v>
                </c:pt>
                <c:pt idx="10">
                  <c:v>49.23</c:v>
                </c:pt>
                <c:pt idx="11">
                  <c:v>49.32</c:v>
                </c:pt>
                <c:pt idx="12">
                  <c:v>49.42</c:v>
                </c:pt>
                <c:pt idx="13">
                  <c:v>49.45</c:v>
                </c:pt>
                <c:pt idx="14">
                  <c:v>49.46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Sheet1!$A$40</c:f>
              <c:strCache>
                <c:ptCount val="1"/>
                <c:pt idx="0">
                  <c:v>3</c:v>
                </c:pt>
              </c:strCache>
            </c:strRef>
          </c:tx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Sheet1!$C$40:$Q$40</c:f>
              <c:numCache>
                <c:formatCode>General</c:formatCode>
                <c:ptCount val="15"/>
                <c:pt idx="0">
                  <c:v>47.62</c:v>
                </c:pt>
                <c:pt idx="1">
                  <c:v>48</c:v>
                </c:pt>
                <c:pt idx="2">
                  <c:v>47.93</c:v>
                </c:pt>
                <c:pt idx="3">
                  <c:v>48.06</c:v>
                </c:pt>
                <c:pt idx="4">
                  <c:v>48.38</c:v>
                </c:pt>
                <c:pt idx="5">
                  <c:v>48.46</c:v>
                </c:pt>
                <c:pt idx="6">
                  <c:v>48.56</c:v>
                </c:pt>
                <c:pt idx="7">
                  <c:v>48.56</c:v>
                </c:pt>
                <c:pt idx="8">
                  <c:v>48.75</c:v>
                </c:pt>
                <c:pt idx="9">
                  <c:v>48.9</c:v>
                </c:pt>
                <c:pt idx="10">
                  <c:v>48.93</c:v>
                </c:pt>
                <c:pt idx="11">
                  <c:v>48.95</c:v>
                </c:pt>
                <c:pt idx="12">
                  <c:v>49.02</c:v>
                </c:pt>
                <c:pt idx="13">
                  <c:v>49.1</c:v>
                </c:pt>
                <c:pt idx="14">
                  <c:v>49.18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Sheet1!$A$41</c:f>
              <c:strCache>
                <c:ptCount val="1"/>
                <c:pt idx="0">
                  <c:v>4</c:v>
                </c:pt>
              </c:strCache>
            </c:strRef>
          </c:tx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Sheet1!$C$41:$Q$41</c:f>
              <c:numCache>
                <c:formatCode>General</c:formatCode>
                <c:ptCount val="15"/>
                <c:pt idx="0">
                  <c:v>47.6</c:v>
                </c:pt>
                <c:pt idx="1">
                  <c:v>47.94</c:v>
                </c:pt>
                <c:pt idx="2">
                  <c:v>48.06</c:v>
                </c:pt>
                <c:pt idx="3">
                  <c:v>48.3</c:v>
                </c:pt>
                <c:pt idx="4">
                  <c:v>48.28</c:v>
                </c:pt>
                <c:pt idx="5">
                  <c:v>48.32</c:v>
                </c:pt>
                <c:pt idx="6">
                  <c:v>48.41</c:v>
                </c:pt>
                <c:pt idx="7">
                  <c:v>48.59</c:v>
                </c:pt>
                <c:pt idx="8">
                  <c:v>48.71</c:v>
                </c:pt>
                <c:pt idx="9">
                  <c:v>48.82</c:v>
                </c:pt>
                <c:pt idx="10">
                  <c:v>48.86</c:v>
                </c:pt>
                <c:pt idx="11">
                  <c:v>48.91</c:v>
                </c:pt>
                <c:pt idx="12">
                  <c:v>48.97</c:v>
                </c:pt>
                <c:pt idx="13">
                  <c:v>48.98</c:v>
                </c:pt>
                <c:pt idx="14">
                  <c:v>49.04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Sheet1!$A$42</c:f>
              <c:strCache>
                <c:ptCount val="1"/>
                <c:pt idx="0">
                  <c:v>5</c:v>
                </c:pt>
              </c:strCache>
            </c:strRef>
          </c:tx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Sheet1!$C$42:$Q$42</c:f>
              <c:numCache>
                <c:formatCode>General</c:formatCode>
                <c:ptCount val="15"/>
                <c:pt idx="0">
                  <c:v>47.59</c:v>
                </c:pt>
                <c:pt idx="1">
                  <c:v>48.04</c:v>
                </c:pt>
                <c:pt idx="2">
                  <c:v>48.17</c:v>
                </c:pt>
                <c:pt idx="3">
                  <c:v>48.37</c:v>
                </c:pt>
                <c:pt idx="4">
                  <c:v>48.15</c:v>
                </c:pt>
                <c:pt idx="5">
                  <c:v>48.09</c:v>
                </c:pt>
                <c:pt idx="6">
                  <c:v>48.33</c:v>
                </c:pt>
                <c:pt idx="7">
                  <c:v>48.37</c:v>
                </c:pt>
                <c:pt idx="8">
                  <c:v>48.45</c:v>
                </c:pt>
                <c:pt idx="9">
                  <c:v>48.58</c:v>
                </c:pt>
                <c:pt idx="10">
                  <c:v>48.55</c:v>
                </c:pt>
                <c:pt idx="11">
                  <c:v>48.61</c:v>
                </c:pt>
                <c:pt idx="12">
                  <c:v>48.7</c:v>
                </c:pt>
                <c:pt idx="13">
                  <c:v>48.7</c:v>
                </c:pt>
                <c:pt idx="14">
                  <c:v>48.71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881472"/>
        <c:axId val="116270208"/>
      </c:lineChart>
      <c:catAx>
        <c:axId val="1158814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4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6270208"/>
        <c:crosses val="autoZero"/>
        <c:auto val="1"/>
        <c:lblAlgn val="ctr"/>
        <c:lblOffset val="100"/>
        <c:tickLblSkip val="1"/>
        <c:noMultiLvlLbl val="0"/>
      </c:catAx>
      <c:valAx>
        <c:axId val="116270208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AveF</a:t>
                </a:r>
                <a:r>
                  <a:rPr lang="en-US" sz="1400" baseline="-25000"/>
                  <a:t>10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158814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0033151721619904"/>
          <c:y val="0.535703972255267"/>
          <c:w val="0.28696441631150199"/>
          <c:h val="0.26892275156252998"/>
        </c:manualLayout>
      </c:layout>
      <c:overlay val="1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Sheet1!$A$5</c:f>
              <c:strCache>
                <c:ptCount val="1"/>
                <c:pt idx="0">
                  <c:v>500</c:v>
                </c:pt>
              </c:strCache>
            </c:strRef>
          </c:tx>
          <c:marker>
            <c:symbol val="diamond"/>
            <c:size val="12"/>
          </c:marker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Sheet1!$C$5:$Q$5</c:f>
              <c:numCache>
                <c:formatCode>General</c:formatCode>
                <c:ptCount val="15"/>
                <c:pt idx="0">
                  <c:v>47.26</c:v>
                </c:pt>
                <c:pt idx="1">
                  <c:v>47.72</c:v>
                </c:pt>
                <c:pt idx="2">
                  <c:v>48.35</c:v>
                </c:pt>
                <c:pt idx="3">
                  <c:v>48.77</c:v>
                </c:pt>
                <c:pt idx="4">
                  <c:v>48.74</c:v>
                </c:pt>
                <c:pt idx="5">
                  <c:v>48.77</c:v>
                </c:pt>
                <c:pt idx="6">
                  <c:v>48.76</c:v>
                </c:pt>
                <c:pt idx="7">
                  <c:v>48.77</c:v>
                </c:pt>
                <c:pt idx="8">
                  <c:v>48.62</c:v>
                </c:pt>
                <c:pt idx="9">
                  <c:v>48.55</c:v>
                </c:pt>
                <c:pt idx="10">
                  <c:v>48.72</c:v>
                </c:pt>
                <c:pt idx="11">
                  <c:v>48.8</c:v>
                </c:pt>
                <c:pt idx="12">
                  <c:v>48.83</c:v>
                </c:pt>
                <c:pt idx="13">
                  <c:v>48.73</c:v>
                </c:pt>
                <c:pt idx="14">
                  <c:v>48.77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Sheet1!$A$6</c:f>
              <c:strCache>
                <c:ptCount val="1"/>
                <c:pt idx="0">
                  <c:v>300</c:v>
                </c:pt>
              </c:strCache>
            </c:strRef>
          </c:tx>
          <c:marker>
            <c:symbol val="square"/>
            <c:size val="9"/>
          </c:marker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Sheet1!$C$6:$Q$6</c:f>
              <c:numCache>
                <c:formatCode>General</c:formatCode>
                <c:ptCount val="15"/>
                <c:pt idx="0">
                  <c:v>46.66</c:v>
                </c:pt>
                <c:pt idx="1">
                  <c:v>47.53</c:v>
                </c:pt>
                <c:pt idx="2">
                  <c:v>48.08</c:v>
                </c:pt>
                <c:pt idx="3">
                  <c:v>48.12</c:v>
                </c:pt>
                <c:pt idx="4">
                  <c:v>48.38</c:v>
                </c:pt>
                <c:pt idx="5">
                  <c:v>48.43</c:v>
                </c:pt>
                <c:pt idx="6">
                  <c:v>48.41</c:v>
                </c:pt>
                <c:pt idx="7">
                  <c:v>48.51</c:v>
                </c:pt>
                <c:pt idx="8">
                  <c:v>48.53</c:v>
                </c:pt>
                <c:pt idx="9">
                  <c:v>48.85</c:v>
                </c:pt>
                <c:pt idx="10">
                  <c:v>48.9</c:v>
                </c:pt>
                <c:pt idx="11">
                  <c:v>48.87</c:v>
                </c:pt>
                <c:pt idx="12">
                  <c:v>48.85</c:v>
                </c:pt>
                <c:pt idx="13">
                  <c:v>49</c:v>
                </c:pt>
                <c:pt idx="14">
                  <c:v>49.01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Sheet1!$A$7</c:f>
              <c:strCache>
                <c:ptCount val="1"/>
                <c:pt idx="0">
                  <c:v>200</c:v>
                </c:pt>
              </c:strCache>
            </c:strRef>
          </c:tx>
          <c:marker>
            <c:symbol val="triangle"/>
            <c:size val="12"/>
          </c:marker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Sheet1!$C$7:$Q$7</c:f>
              <c:numCache>
                <c:formatCode>General</c:formatCode>
                <c:ptCount val="15"/>
                <c:pt idx="0">
                  <c:v>48.98</c:v>
                </c:pt>
                <c:pt idx="1">
                  <c:v>48</c:v>
                </c:pt>
                <c:pt idx="2">
                  <c:v>47.91</c:v>
                </c:pt>
                <c:pt idx="3">
                  <c:v>48.07</c:v>
                </c:pt>
                <c:pt idx="4">
                  <c:v>48.33</c:v>
                </c:pt>
                <c:pt idx="5">
                  <c:v>48.38</c:v>
                </c:pt>
                <c:pt idx="6">
                  <c:v>48.31</c:v>
                </c:pt>
                <c:pt idx="7">
                  <c:v>48.5</c:v>
                </c:pt>
                <c:pt idx="8">
                  <c:v>48.44</c:v>
                </c:pt>
                <c:pt idx="9">
                  <c:v>48.58</c:v>
                </c:pt>
                <c:pt idx="10">
                  <c:v>48.62</c:v>
                </c:pt>
                <c:pt idx="11">
                  <c:v>48.77</c:v>
                </c:pt>
                <c:pt idx="12">
                  <c:v>48.84</c:v>
                </c:pt>
                <c:pt idx="13">
                  <c:v>48.96</c:v>
                </c:pt>
                <c:pt idx="14">
                  <c:v>48.97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Sheet1!$A$8</c:f>
              <c:strCache>
                <c:ptCount val="1"/>
                <c:pt idx="0">
                  <c:v>100</c:v>
                </c:pt>
              </c:strCache>
            </c:strRef>
          </c:tx>
          <c:marker>
            <c:symbol val="x"/>
            <c:size val="12"/>
          </c:marker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Sheet1!$C$8:$Q$8</c:f>
              <c:numCache>
                <c:formatCode>General</c:formatCode>
                <c:ptCount val="15"/>
                <c:pt idx="0">
                  <c:v>47.43</c:v>
                </c:pt>
                <c:pt idx="1">
                  <c:v>48.53</c:v>
                </c:pt>
                <c:pt idx="2">
                  <c:v>48.53</c:v>
                </c:pt>
                <c:pt idx="3">
                  <c:v>48.42</c:v>
                </c:pt>
                <c:pt idx="4">
                  <c:v>48.53</c:v>
                </c:pt>
                <c:pt idx="5">
                  <c:v>48.68</c:v>
                </c:pt>
                <c:pt idx="6">
                  <c:v>48.59</c:v>
                </c:pt>
                <c:pt idx="7">
                  <c:v>48.56</c:v>
                </c:pt>
                <c:pt idx="8">
                  <c:v>48.72</c:v>
                </c:pt>
                <c:pt idx="9">
                  <c:v>48.68</c:v>
                </c:pt>
                <c:pt idx="10">
                  <c:v>48.81</c:v>
                </c:pt>
                <c:pt idx="11">
                  <c:v>48.82</c:v>
                </c:pt>
                <c:pt idx="12">
                  <c:v>48.81</c:v>
                </c:pt>
                <c:pt idx="13">
                  <c:v>48.98</c:v>
                </c:pt>
                <c:pt idx="14">
                  <c:v>49.03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Sheet1!$A$9</c:f>
              <c:strCache>
                <c:ptCount val="1"/>
                <c:pt idx="0">
                  <c:v>50</c:v>
                </c:pt>
              </c:strCache>
            </c:strRef>
          </c:tx>
          <c:marker>
            <c:symbol val="star"/>
            <c:size val="12"/>
          </c:marker>
          <c:cat>
            <c:numRef>
              <c:f>Sheet1!$C$4:$Q$4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Sheet1!$C$9:$Q$9</c:f>
              <c:numCache>
                <c:formatCode>General</c:formatCode>
                <c:ptCount val="15"/>
                <c:pt idx="0">
                  <c:v>47.07</c:v>
                </c:pt>
                <c:pt idx="1">
                  <c:v>47.33</c:v>
                </c:pt>
                <c:pt idx="2">
                  <c:v>47.83</c:v>
                </c:pt>
                <c:pt idx="3">
                  <c:v>47.98</c:v>
                </c:pt>
                <c:pt idx="4">
                  <c:v>48.13</c:v>
                </c:pt>
                <c:pt idx="5">
                  <c:v>48.27</c:v>
                </c:pt>
                <c:pt idx="6">
                  <c:v>48.31</c:v>
                </c:pt>
                <c:pt idx="7">
                  <c:v>48.36</c:v>
                </c:pt>
                <c:pt idx="8">
                  <c:v>48.35</c:v>
                </c:pt>
                <c:pt idx="9">
                  <c:v>48.39</c:v>
                </c:pt>
                <c:pt idx="10">
                  <c:v>48.38</c:v>
                </c:pt>
                <c:pt idx="11">
                  <c:v>48.5</c:v>
                </c:pt>
                <c:pt idx="12">
                  <c:v>48.48</c:v>
                </c:pt>
                <c:pt idx="13">
                  <c:v>48.6</c:v>
                </c:pt>
                <c:pt idx="14">
                  <c:v>48.67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883520"/>
        <c:axId val="116272512"/>
      </c:lineChart>
      <c:catAx>
        <c:axId val="1158835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272512"/>
        <c:crosses val="autoZero"/>
        <c:auto val="1"/>
        <c:lblAlgn val="ctr"/>
        <c:lblOffset val="100"/>
        <c:noMultiLvlLbl val="0"/>
      </c:catAx>
      <c:valAx>
        <c:axId val="116272512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/>
                  <a:t>AveF</a:t>
                </a:r>
                <a:r>
                  <a:rPr lang="en-US" sz="2000" baseline="-25000"/>
                  <a:t>10</a:t>
                </a:r>
              </a:p>
            </c:rich>
          </c:tx>
          <c:layout>
            <c:manualLayout>
              <c:xMode val="edge"/>
              <c:yMode val="edge"/>
              <c:x val="0.13831107131979598"/>
              <c:y val="2.5173237428366439E-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58835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2627888557929792"/>
          <c:y val="0.52325786266336083"/>
          <c:w val="0.27835998677626328"/>
          <c:h val="0.32311927272066776"/>
        </c:manualLayout>
      </c:layout>
      <c:overlay val="1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Sheet1!$A$16</c:f>
              <c:strCache>
                <c:ptCount val="1"/>
                <c:pt idx="0">
                  <c:v>100</c:v>
                </c:pt>
              </c:strCache>
            </c:strRef>
          </c:tx>
          <c:marker>
            <c:symbol val="diamond"/>
            <c:size val="12"/>
          </c:marker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Sheet1!$C$16:$Q$16</c:f>
              <c:numCache>
                <c:formatCode>General</c:formatCode>
                <c:ptCount val="15"/>
                <c:pt idx="0">
                  <c:v>48.98</c:v>
                </c:pt>
                <c:pt idx="1">
                  <c:v>48</c:v>
                </c:pt>
                <c:pt idx="2">
                  <c:v>47.91</c:v>
                </c:pt>
                <c:pt idx="3">
                  <c:v>48.07</c:v>
                </c:pt>
                <c:pt idx="4">
                  <c:v>48.33</c:v>
                </c:pt>
                <c:pt idx="5">
                  <c:v>48.38</c:v>
                </c:pt>
                <c:pt idx="6">
                  <c:v>48.31</c:v>
                </c:pt>
                <c:pt idx="7">
                  <c:v>48.5</c:v>
                </c:pt>
                <c:pt idx="8">
                  <c:v>48.44</c:v>
                </c:pt>
                <c:pt idx="9">
                  <c:v>48.58</c:v>
                </c:pt>
                <c:pt idx="10">
                  <c:v>48.62</c:v>
                </c:pt>
                <c:pt idx="11">
                  <c:v>48.77</c:v>
                </c:pt>
                <c:pt idx="12">
                  <c:v>48.84</c:v>
                </c:pt>
                <c:pt idx="13">
                  <c:v>48.96</c:v>
                </c:pt>
                <c:pt idx="14">
                  <c:v>48.97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Sheet1!$A$17</c:f>
              <c:strCache>
                <c:ptCount val="1"/>
                <c:pt idx="0">
                  <c:v>200</c:v>
                </c:pt>
              </c:strCache>
            </c:strRef>
          </c:tx>
          <c:marker>
            <c:symbol val="square"/>
            <c:size val="9"/>
          </c:marker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Sheet1!$C$17:$Q$17</c:f>
              <c:numCache>
                <c:formatCode>General</c:formatCode>
                <c:ptCount val="15"/>
                <c:pt idx="0">
                  <c:v>46.47</c:v>
                </c:pt>
                <c:pt idx="1">
                  <c:v>47.13</c:v>
                </c:pt>
                <c:pt idx="2">
                  <c:v>47.84</c:v>
                </c:pt>
                <c:pt idx="3">
                  <c:v>48.17</c:v>
                </c:pt>
                <c:pt idx="4">
                  <c:v>48.36</c:v>
                </c:pt>
                <c:pt idx="5">
                  <c:v>48.53</c:v>
                </c:pt>
                <c:pt idx="6">
                  <c:v>48.58</c:v>
                </c:pt>
                <c:pt idx="7">
                  <c:v>48.67</c:v>
                </c:pt>
                <c:pt idx="8">
                  <c:v>48.77</c:v>
                </c:pt>
                <c:pt idx="9">
                  <c:v>48.72</c:v>
                </c:pt>
                <c:pt idx="10">
                  <c:v>48.69</c:v>
                </c:pt>
                <c:pt idx="11">
                  <c:v>48.77</c:v>
                </c:pt>
                <c:pt idx="12">
                  <c:v>48.92</c:v>
                </c:pt>
                <c:pt idx="13">
                  <c:v>48.93</c:v>
                </c:pt>
                <c:pt idx="14">
                  <c:v>48.97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Sheet1!$A$18</c:f>
              <c:strCache>
                <c:ptCount val="1"/>
                <c:pt idx="0">
                  <c:v>300</c:v>
                </c:pt>
              </c:strCache>
            </c:strRef>
          </c:tx>
          <c:marker>
            <c:symbol val="triangle"/>
            <c:size val="12"/>
          </c:marker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Sheet1!$C$18:$Q$18</c:f>
              <c:numCache>
                <c:formatCode>General</c:formatCode>
                <c:ptCount val="15"/>
                <c:pt idx="0">
                  <c:v>46.36</c:v>
                </c:pt>
                <c:pt idx="1">
                  <c:v>47.32</c:v>
                </c:pt>
                <c:pt idx="2">
                  <c:v>47.53</c:v>
                </c:pt>
                <c:pt idx="3">
                  <c:v>47.8</c:v>
                </c:pt>
                <c:pt idx="4">
                  <c:v>48.14</c:v>
                </c:pt>
                <c:pt idx="5">
                  <c:v>48.41</c:v>
                </c:pt>
                <c:pt idx="6">
                  <c:v>48.58</c:v>
                </c:pt>
                <c:pt idx="7">
                  <c:v>48.68</c:v>
                </c:pt>
                <c:pt idx="8">
                  <c:v>48.88</c:v>
                </c:pt>
                <c:pt idx="9">
                  <c:v>48.87</c:v>
                </c:pt>
                <c:pt idx="10">
                  <c:v>48.97</c:v>
                </c:pt>
                <c:pt idx="11">
                  <c:v>49.09</c:v>
                </c:pt>
                <c:pt idx="12">
                  <c:v>49.16</c:v>
                </c:pt>
                <c:pt idx="13">
                  <c:v>49.17</c:v>
                </c:pt>
                <c:pt idx="14">
                  <c:v>49.19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Sheet1!$A$19</c:f>
              <c:strCache>
                <c:ptCount val="1"/>
                <c:pt idx="0">
                  <c:v>400</c:v>
                </c:pt>
              </c:strCache>
            </c:strRef>
          </c:tx>
          <c:marker>
            <c:symbol val="x"/>
            <c:size val="11"/>
          </c:marker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Sheet1!$C$19:$Q$19</c:f>
              <c:numCache>
                <c:formatCode>General</c:formatCode>
                <c:ptCount val="15"/>
                <c:pt idx="0">
                  <c:v>47.55</c:v>
                </c:pt>
                <c:pt idx="1">
                  <c:v>48.19</c:v>
                </c:pt>
                <c:pt idx="2">
                  <c:v>48.27</c:v>
                </c:pt>
                <c:pt idx="3">
                  <c:v>48.38</c:v>
                </c:pt>
                <c:pt idx="4">
                  <c:v>48.69</c:v>
                </c:pt>
                <c:pt idx="5">
                  <c:v>48.77</c:v>
                </c:pt>
                <c:pt idx="6">
                  <c:v>49.05</c:v>
                </c:pt>
                <c:pt idx="7">
                  <c:v>48.96</c:v>
                </c:pt>
                <c:pt idx="8">
                  <c:v>49.13</c:v>
                </c:pt>
                <c:pt idx="9">
                  <c:v>49.07</c:v>
                </c:pt>
                <c:pt idx="10">
                  <c:v>49.07</c:v>
                </c:pt>
                <c:pt idx="11">
                  <c:v>49.04</c:v>
                </c:pt>
                <c:pt idx="12">
                  <c:v>48.99</c:v>
                </c:pt>
                <c:pt idx="13">
                  <c:v>48.95</c:v>
                </c:pt>
                <c:pt idx="14">
                  <c:v>49.08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Sheet1!$A$20</c:f>
              <c:strCache>
                <c:ptCount val="1"/>
                <c:pt idx="0">
                  <c:v>500</c:v>
                </c:pt>
              </c:strCache>
            </c:strRef>
          </c:tx>
          <c:marker>
            <c:symbol val="star"/>
            <c:size val="12"/>
          </c:marker>
          <c:cat>
            <c:numRef>
              <c:f>Sheet1!$C$15:$Q$15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Sheet1!$C$20:$Q$20</c:f>
              <c:numCache>
                <c:formatCode>General</c:formatCode>
                <c:ptCount val="15"/>
                <c:pt idx="0">
                  <c:v>47.14</c:v>
                </c:pt>
                <c:pt idx="1">
                  <c:v>47.57</c:v>
                </c:pt>
                <c:pt idx="2">
                  <c:v>47.98</c:v>
                </c:pt>
                <c:pt idx="3">
                  <c:v>48.21</c:v>
                </c:pt>
                <c:pt idx="4">
                  <c:v>48.54</c:v>
                </c:pt>
                <c:pt idx="5">
                  <c:v>48.75</c:v>
                </c:pt>
                <c:pt idx="6">
                  <c:v>48.75</c:v>
                </c:pt>
                <c:pt idx="7">
                  <c:v>48.94</c:v>
                </c:pt>
                <c:pt idx="8">
                  <c:v>49.11</c:v>
                </c:pt>
                <c:pt idx="9">
                  <c:v>48.95</c:v>
                </c:pt>
                <c:pt idx="10">
                  <c:v>48.94</c:v>
                </c:pt>
                <c:pt idx="11">
                  <c:v>48.98</c:v>
                </c:pt>
                <c:pt idx="12">
                  <c:v>49.06</c:v>
                </c:pt>
                <c:pt idx="13">
                  <c:v>49.09</c:v>
                </c:pt>
                <c:pt idx="14">
                  <c:v>49.15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020736"/>
        <c:axId val="116274816"/>
      </c:lineChart>
      <c:catAx>
        <c:axId val="1160207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274816"/>
        <c:crosses val="autoZero"/>
        <c:auto val="1"/>
        <c:lblAlgn val="ctr"/>
        <c:lblOffset val="100"/>
        <c:noMultiLvlLbl val="0"/>
      </c:catAx>
      <c:valAx>
        <c:axId val="116274816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/>
                  <a:t>AveF</a:t>
                </a:r>
                <a:r>
                  <a:rPr lang="en-US" sz="2000" baseline="-25000"/>
                  <a:t>10</a:t>
                </a:r>
              </a:p>
            </c:rich>
          </c:tx>
          <c:layout>
            <c:manualLayout>
              <c:xMode val="edge"/>
              <c:yMode val="edge"/>
              <c:x val="0.14608695652173914"/>
              <c:y val="2.4418968354344307E-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0207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3154709574346681"/>
          <c:y val="0.508089882547065"/>
          <c:w val="0.35069116360454949"/>
          <c:h val="0.32590148374733396"/>
        </c:manualLayout>
      </c:layout>
      <c:overlay val="1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Sheet1!$A$27</c:f>
              <c:strCache>
                <c:ptCount val="1"/>
                <c:pt idx="0">
                  <c:v>0.3</c:v>
                </c:pt>
              </c:strCache>
            </c:strRef>
          </c:tx>
          <c:marker>
            <c:symbol val="diamond"/>
            <c:size val="12"/>
          </c:marker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Sheet1!$C$27:$Q$27</c:f>
              <c:numCache>
                <c:formatCode>General</c:formatCode>
                <c:ptCount val="15"/>
                <c:pt idx="0">
                  <c:v>46.69</c:v>
                </c:pt>
                <c:pt idx="1">
                  <c:v>47.12</c:v>
                </c:pt>
                <c:pt idx="2">
                  <c:v>47.72</c:v>
                </c:pt>
                <c:pt idx="3">
                  <c:v>47.8</c:v>
                </c:pt>
                <c:pt idx="4">
                  <c:v>47.99</c:v>
                </c:pt>
                <c:pt idx="5">
                  <c:v>48.11</c:v>
                </c:pt>
                <c:pt idx="6">
                  <c:v>48.18</c:v>
                </c:pt>
                <c:pt idx="7">
                  <c:v>48.06</c:v>
                </c:pt>
                <c:pt idx="8">
                  <c:v>48.28</c:v>
                </c:pt>
                <c:pt idx="9">
                  <c:v>48.48</c:v>
                </c:pt>
                <c:pt idx="10">
                  <c:v>48.72</c:v>
                </c:pt>
                <c:pt idx="11">
                  <c:v>48.7</c:v>
                </c:pt>
                <c:pt idx="12">
                  <c:v>48.82</c:v>
                </c:pt>
                <c:pt idx="13">
                  <c:v>48.92</c:v>
                </c:pt>
                <c:pt idx="14">
                  <c:v>48.85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Sheet1!$A$28</c:f>
              <c:strCache>
                <c:ptCount val="1"/>
                <c:pt idx="0">
                  <c:v>0.2</c:v>
                </c:pt>
              </c:strCache>
            </c:strRef>
          </c:tx>
          <c:marker>
            <c:symbol val="square"/>
            <c:size val="9"/>
          </c:marker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Sheet1!$C$28:$Q$28</c:f>
              <c:numCache>
                <c:formatCode>General</c:formatCode>
                <c:ptCount val="15"/>
                <c:pt idx="0">
                  <c:v>47.73</c:v>
                </c:pt>
                <c:pt idx="1">
                  <c:v>47.58</c:v>
                </c:pt>
                <c:pt idx="2">
                  <c:v>47.83</c:v>
                </c:pt>
                <c:pt idx="3">
                  <c:v>48.07</c:v>
                </c:pt>
                <c:pt idx="4">
                  <c:v>48.07</c:v>
                </c:pt>
                <c:pt idx="5">
                  <c:v>48.1</c:v>
                </c:pt>
                <c:pt idx="6">
                  <c:v>48.26</c:v>
                </c:pt>
                <c:pt idx="7">
                  <c:v>48.32</c:v>
                </c:pt>
                <c:pt idx="8">
                  <c:v>48.4</c:v>
                </c:pt>
                <c:pt idx="9">
                  <c:v>48.54</c:v>
                </c:pt>
                <c:pt idx="10">
                  <c:v>48.57</c:v>
                </c:pt>
                <c:pt idx="11">
                  <c:v>48.64</c:v>
                </c:pt>
                <c:pt idx="12">
                  <c:v>48.68</c:v>
                </c:pt>
                <c:pt idx="13">
                  <c:v>48.87</c:v>
                </c:pt>
                <c:pt idx="14">
                  <c:v>48.88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Sheet1!$A$29</c:f>
              <c:strCache>
                <c:ptCount val="1"/>
                <c:pt idx="0">
                  <c:v>0.1</c:v>
                </c:pt>
              </c:strCache>
            </c:strRef>
          </c:tx>
          <c:marker>
            <c:symbol val="triangle"/>
            <c:size val="12"/>
          </c:marker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Sheet1!$C$29:$Q$29</c:f>
              <c:numCache>
                <c:formatCode>General</c:formatCode>
                <c:ptCount val="15"/>
                <c:pt idx="0">
                  <c:v>47.14</c:v>
                </c:pt>
                <c:pt idx="1">
                  <c:v>47.57</c:v>
                </c:pt>
                <c:pt idx="2">
                  <c:v>47.98</c:v>
                </c:pt>
                <c:pt idx="3">
                  <c:v>48.21</c:v>
                </c:pt>
                <c:pt idx="4">
                  <c:v>48.54</c:v>
                </c:pt>
                <c:pt idx="5">
                  <c:v>48.75</c:v>
                </c:pt>
                <c:pt idx="6">
                  <c:v>48.75</c:v>
                </c:pt>
                <c:pt idx="7">
                  <c:v>48.94</c:v>
                </c:pt>
                <c:pt idx="8">
                  <c:v>49.11</c:v>
                </c:pt>
                <c:pt idx="9">
                  <c:v>48.95</c:v>
                </c:pt>
                <c:pt idx="10">
                  <c:v>48.94</c:v>
                </c:pt>
                <c:pt idx="11">
                  <c:v>48.98</c:v>
                </c:pt>
                <c:pt idx="12">
                  <c:v>49.06</c:v>
                </c:pt>
                <c:pt idx="13">
                  <c:v>49.09</c:v>
                </c:pt>
                <c:pt idx="14">
                  <c:v>49.15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Sheet1!$A$30</c:f>
              <c:strCache>
                <c:ptCount val="1"/>
                <c:pt idx="0">
                  <c:v>0.07</c:v>
                </c:pt>
              </c:strCache>
            </c:strRef>
          </c:tx>
          <c:marker>
            <c:symbol val="x"/>
            <c:size val="12"/>
          </c:marker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Sheet1!$C$30:$Q$30</c:f>
              <c:numCache>
                <c:formatCode>General</c:formatCode>
                <c:ptCount val="15"/>
                <c:pt idx="0">
                  <c:v>48.08</c:v>
                </c:pt>
                <c:pt idx="1">
                  <c:v>48.45</c:v>
                </c:pt>
                <c:pt idx="2">
                  <c:v>48.57</c:v>
                </c:pt>
                <c:pt idx="3">
                  <c:v>48.73</c:v>
                </c:pt>
                <c:pt idx="4">
                  <c:v>48.41</c:v>
                </c:pt>
                <c:pt idx="5">
                  <c:v>48.61</c:v>
                </c:pt>
                <c:pt idx="6">
                  <c:v>48.68</c:v>
                </c:pt>
                <c:pt idx="7">
                  <c:v>48.82</c:v>
                </c:pt>
                <c:pt idx="8">
                  <c:v>48.84</c:v>
                </c:pt>
                <c:pt idx="9">
                  <c:v>48.9</c:v>
                </c:pt>
                <c:pt idx="10">
                  <c:v>48.81</c:v>
                </c:pt>
                <c:pt idx="11">
                  <c:v>48.85</c:v>
                </c:pt>
                <c:pt idx="12">
                  <c:v>48.86</c:v>
                </c:pt>
                <c:pt idx="13">
                  <c:v>48.95</c:v>
                </c:pt>
                <c:pt idx="14">
                  <c:v>49.07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Sheet1!$A$31</c:f>
              <c:strCache>
                <c:ptCount val="1"/>
                <c:pt idx="0">
                  <c:v>0.04</c:v>
                </c:pt>
              </c:strCache>
            </c:strRef>
          </c:tx>
          <c:marker>
            <c:symbol val="star"/>
            <c:size val="12"/>
          </c:marker>
          <c:cat>
            <c:numRef>
              <c:f>Sheet1!$C$26:$Q$26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Sheet1!$C$31:$Q$31</c:f>
              <c:numCache>
                <c:formatCode>General</c:formatCode>
                <c:ptCount val="15"/>
                <c:pt idx="0">
                  <c:v>46.43</c:v>
                </c:pt>
                <c:pt idx="1">
                  <c:v>48.03</c:v>
                </c:pt>
                <c:pt idx="2">
                  <c:v>48.04</c:v>
                </c:pt>
                <c:pt idx="3">
                  <c:v>48.17</c:v>
                </c:pt>
                <c:pt idx="4">
                  <c:v>48.32</c:v>
                </c:pt>
                <c:pt idx="5">
                  <c:v>48.46</c:v>
                </c:pt>
                <c:pt idx="6">
                  <c:v>48.65</c:v>
                </c:pt>
                <c:pt idx="7">
                  <c:v>48.65</c:v>
                </c:pt>
                <c:pt idx="8">
                  <c:v>48.63</c:v>
                </c:pt>
                <c:pt idx="9">
                  <c:v>48.68</c:v>
                </c:pt>
                <c:pt idx="10">
                  <c:v>48.76</c:v>
                </c:pt>
                <c:pt idx="11">
                  <c:v>48.78</c:v>
                </c:pt>
                <c:pt idx="12">
                  <c:v>48.93</c:v>
                </c:pt>
                <c:pt idx="13">
                  <c:v>48.87</c:v>
                </c:pt>
                <c:pt idx="14">
                  <c:v>48.84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022784"/>
        <c:axId val="116072448"/>
      </c:lineChart>
      <c:catAx>
        <c:axId val="116022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072448"/>
        <c:crosses val="autoZero"/>
        <c:auto val="1"/>
        <c:lblAlgn val="ctr"/>
        <c:lblOffset val="100"/>
        <c:noMultiLvlLbl val="0"/>
      </c:catAx>
      <c:valAx>
        <c:axId val="116072448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/>
                  <a:t>AveF</a:t>
                </a:r>
                <a:r>
                  <a:rPr lang="en-US" sz="2000" baseline="-25000"/>
                  <a:t>10</a:t>
                </a:r>
              </a:p>
            </c:rich>
          </c:tx>
          <c:layout>
            <c:manualLayout>
              <c:xMode val="edge"/>
              <c:yMode val="edge"/>
              <c:x val="0.14351854467748335"/>
              <c:y val="5.6870918816808802E-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022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512521054338192"/>
          <c:y val="0.51934464939287428"/>
          <c:w val="0.361062693398712"/>
          <c:h val="0.30795629785031203"/>
        </c:manualLayout>
      </c:layout>
      <c:overlay val="1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Sheet1!$A$38</c:f>
              <c:strCache>
                <c:ptCount val="1"/>
                <c:pt idx="0">
                  <c:v>1</c:v>
                </c:pt>
              </c:strCache>
            </c:strRef>
          </c:tx>
          <c:marker>
            <c:symbol val="diamond"/>
            <c:size val="12"/>
          </c:marker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Sheet1!$C$38:$Q$38</c:f>
              <c:numCache>
                <c:formatCode>General</c:formatCode>
                <c:ptCount val="15"/>
                <c:pt idx="0">
                  <c:v>46.43</c:v>
                </c:pt>
                <c:pt idx="1">
                  <c:v>48.03</c:v>
                </c:pt>
                <c:pt idx="2">
                  <c:v>48.04</c:v>
                </c:pt>
                <c:pt idx="3">
                  <c:v>48.17</c:v>
                </c:pt>
                <c:pt idx="4">
                  <c:v>48.32</c:v>
                </c:pt>
                <c:pt idx="5">
                  <c:v>48.46</c:v>
                </c:pt>
                <c:pt idx="6">
                  <c:v>48.65</c:v>
                </c:pt>
                <c:pt idx="7">
                  <c:v>48.65</c:v>
                </c:pt>
                <c:pt idx="8">
                  <c:v>48.63</c:v>
                </c:pt>
                <c:pt idx="9">
                  <c:v>48.68</c:v>
                </c:pt>
                <c:pt idx="10">
                  <c:v>48.76</c:v>
                </c:pt>
                <c:pt idx="11">
                  <c:v>48.78</c:v>
                </c:pt>
                <c:pt idx="12">
                  <c:v>48.93</c:v>
                </c:pt>
                <c:pt idx="13">
                  <c:v>48.87</c:v>
                </c:pt>
                <c:pt idx="14">
                  <c:v>48.84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Sheet1!$A$39</c:f>
              <c:strCache>
                <c:ptCount val="1"/>
                <c:pt idx="0">
                  <c:v>2</c:v>
                </c:pt>
              </c:strCache>
            </c:strRef>
          </c:tx>
          <c:marker>
            <c:symbol val="square"/>
            <c:size val="9"/>
          </c:marker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Sheet1!$C$39:$Q$39</c:f>
              <c:numCache>
                <c:formatCode>General</c:formatCode>
                <c:ptCount val="15"/>
                <c:pt idx="0">
                  <c:v>47.19</c:v>
                </c:pt>
                <c:pt idx="1">
                  <c:v>47.69</c:v>
                </c:pt>
                <c:pt idx="2">
                  <c:v>48.23</c:v>
                </c:pt>
                <c:pt idx="3">
                  <c:v>48.55</c:v>
                </c:pt>
                <c:pt idx="4">
                  <c:v>48.8</c:v>
                </c:pt>
                <c:pt idx="5">
                  <c:v>48.91</c:v>
                </c:pt>
                <c:pt idx="6">
                  <c:v>49.04</c:v>
                </c:pt>
                <c:pt idx="7">
                  <c:v>49.1</c:v>
                </c:pt>
                <c:pt idx="8">
                  <c:v>49.15</c:v>
                </c:pt>
                <c:pt idx="9">
                  <c:v>49.23</c:v>
                </c:pt>
                <c:pt idx="10">
                  <c:v>49.23</c:v>
                </c:pt>
                <c:pt idx="11">
                  <c:v>49.32</c:v>
                </c:pt>
                <c:pt idx="12">
                  <c:v>49.42</c:v>
                </c:pt>
                <c:pt idx="13">
                  <c:v>49.45</c:v>
                </c:pt>
                <c:pt idx="14">
                  <c:v>49.46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Sheet1!$A$40</c:f>
              <c:strCache>
                <c:ptCount val="1"/>
                <c:pt idx="0">
                  <c:v>3</c:v>
                </c:pt>
              </c:strCache>
            </c:strRef>
          </c:tx>
          <c:marker>
            <c:symbol val="triangle"/>
            <c:size val="12"/>
          </c:marker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Sheet1!$C$40:$Q$40</c:f>
              <c:numCache>
                <c:formatCode>General</c:formatCode>
                <c:ptCount val="15"/>
                <c:pt idx="0">
                  <c:v>47.62</c:v>
                </c:pt>
                <c:pt idx="1">
                  <c:v>48</c:v>
                </c:pt>
                <c:pt idx="2">
                  <c:v>47.93</c:v>
                </c:pt>
                <c:pt idx="3">
                  <c:v>48.06</c:v>
                </c:pt>
                <c:pt idx="4">
                  <c:v>48.38</c:v>
                </c:pt>
                <c:pt idx="5">
                  <c:v>48.46</c:v>
                </c:pt>
                <c:pt idx="6">
                  <c:v>48.56</c:v>
                </c:pt>
                <c:pt idx="7">
                  <c:v>48.56</c:v>
                </c:pt>
                <c:pt idx="8">
                  <c:v>48.75</c:v>
                </c:pt>
                <c:pt idx="9">
                  <c:v>48.9</c:v>
                </c:pt>
                <c:pt idx="10">
                  <c:v>48.93</c:v>
                </c:pt>
                <c:pt idx="11">
                  <c:v>48.95</c:v>
                </c:pt>
                <c:pt idx="12">
                  <c:v>49.02</c:v>
                </c:pt>
                <c:pt idx="13">
                  <c:v>49.1</c:v>
                </c:pt>
                <c:pt idx="14">
                  <c:v>49.18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Sheet1!$A$41</c:f>
              <c:strCache>
                <c:ptCount val="1"/>
                <c:pt idx="0">
                  <c:v>4</c:v>
                </c:pt>
              </c:strCache>
            </c:strRef>
          </c:tx>
          <c:marker>
            <c:symbol val="x"/>
            <c:size val="12"/>
          </c:marker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Sheet1!$C$41:$Q$41</c:f>
              <c:numCache>
                <c:formatCode>General</c:formatCode>
                <c:ptCount val="15"/>
                <c:pt idx="0">
                  <c:v>47.6</c:v>
                </c:pt>
                <c:pt idx="1">
                  <c:v>47.94</c:v>
                </c:pt>
                <c:pt idx="2">
                  <c:v>48.06</c:v>
                </c:pt>
                <c:pt idx="3">
                  <c:v>48.3</c:v>
                </c:pt>
                <c:pt idx="4">
                  <c:v>48.28</c:v>
                </c:pt>
                <c:pt idx="5">
                  <c:v>48.32</c:v>
                </c:pt>
                <c:pt idx="6">
                  <c:v>48.41</c:v>
                </c:pt>
                <c:pt idx="7">
                  <c:v>48.59</c:v>
                </c:pt>
                <c:pt idx="8">
                  <c:v>48.71</c:v>
                </c:pt>
                <c:pt idx="9">
                  <c:v>48.82</c:v>
                </c:pt>
                <c:pt idx="10">
                  <c:v>48.86</c:v>
                </c:pt>
                <c:pt idx="11">
                  <c:v>48.91</c:v>
                </c:pt>
                <c:pt idx="12">
                  <c:v>48.97</c:v>
                </c:pt>
                <c:pt idx="13">
                  <c:v>48.98</c:v>
                </c:pt>
                <c:pt idx="14">
                  <c:v>49.04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Sheet1!$A$42</c:f>
              <c:strCache>
                <c:ptCount val="1"/>
                <c:pt idx="0">
                  <c:v>5</c:v>
                </c:pt>
              </c:strCache>
            </c:strRef>
          </c:tx>
          <c:marker>
            <c:symbol val="star"/>
            <c:size val="12"/>
          </c:marker>
          <c:cat>
            <c:numRef>
              <c:f>Sheet1!$C$37:$Q$37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Sheet1!$C$42:$Q$42</c:f>
              <c:numCache>
                <c:formatCode>General</c:formatCode>
                <c:ptCount val="15"/>
                <c:pt idx="0">
                  <c:v>47.59</c:v>
                </c:pt>
                <c:pt idx="1">
                  <c:v>48.04</c:v>
                </c:pt>
                <c:pt idx="2">
                  <c:v>48.17</c:v>
                </c:pt>
                <c:pt idx="3">
                  <c:v>48.37</c:v>
                </c:pt>
                <c:pt idx="4">
                  <c:v>48.15</c:v>
                </c:pt>
                <c:pt idx="5">
                  <c:v>48.09</c:v>
                </c:pt>
                <c:pt idx="6">
                  <c:v>48.33</c:v>
                </c:pt>
                <c:pt idx="7">
                  <c:v>48.37</c:v>
                </c:pt>
                <c:pt idx="8">
                  <c:v>48.45</c:v>
                </c:pt>
                <c:pt idx="9">
                  <c:v>48.58</c:v>
                </c:pt>
                <c:pt idx="10">
                  <c:v>48.55</c:v>
                </c:pt>
                <c:pt idx="11">
                  <c:v>48.61</c:v>
                </c:pt>
                <c:pt idx="12">
                  <c:v>48.7</c:v>
                </c:pt>
                <c:pt idx="13">
                  <c:v>48.7</c:v>
                </c:pt>
                <c:pt idx="14">
                  <c:v>48.71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483584"/>
        <c:axId val="116074752"/>
      </c:lineChart>
      <c:catAx>
        <c:axId val="116483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074752"/>
        <c:crosses val="autoZero"/>
        <c:auto val="1"/>
        <c:lblAlgn val="ctr"/>
        <c:lblOffset val="100"/>
        <c:tickLblSkip val="1"/>
        <c:noMultiLvlLbl val="0"/>
      </c:catAx>
      <c:valAx>
        <c:axId val="116074752"/>
        <c:scaling>
          <c:orientation val="minMax"/>
          <c:max val="49.7"/>
          <c:min val="46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/>
                  <a:t>AveF</a:t>
                </a:r>
                <a:r>
                  <a:rPr lang="en-US" sz="2000" baseline="-25000"/>
                  <a:t>10</a:t>
                </a:r>
              </a:p>
            </c:rich>
          </c:tx>
          <c:layout>
            <c:manualLayout>
              <c:xMode val="edge"/>
              <c:yMode val="edge"/>
              <c:x val="0.14351849235956321"/>
              <c:y val="1.7336433982021676E-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164835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6083450699283555"/>
          <c:y val="0.50845108092058444"/>
          <c:w val="0.24477394197033719"/>
          <c:h val="0.31874396529449361"/>
        </c:manualLayout>
      </c:layout>
      <c:overlay val="1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4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6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1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9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2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0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4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9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2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70CA4-B623-41EB-9B76-1CAB3A6D49F8}" type="datetimeFigureOut">
              <a:rPr lang="en-US" smtClean="0"/>
              <a:t>5/12/2011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6E02D-5AFD-490F-9C40-19B75A0B3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7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1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24000" y="1524000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John       comes from      England     ,    works  for        IMF      ,  and    is       an active hiker     .</a:t>
            </a:r>
            <a:endParaRPr lang="en-US" sz="12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524000" y="1524000"/>
            <a:ext cx="489857" cy="505599"/>
            <a:chOff x="1905000" y="990600"/>
            <a:chExt cx="1066800" cy="505599"/>
          </a:xfrm>
        </p:grpSpPr>
        <p:sp>
          <p:nvSpPr>
            <p:cNvPr id="16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062480" y="1219200"/>
              <a:ext cx="838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48000" y="1524000"/>
            <a:ext cx="685800" cy="505599"/>
            <a:chOff x="1905000" y="990600"/>
            <a:chExt cx="1066800" cy="505599"/>
          </a:xfrm>
        </p:grpSpPr>
        <p:sp>
          <p:nvSpPr>
            <p:cNvPr id="19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33600" y="1219200"/>
              <a:ext cx="624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24400" y="1524000"/>
            <a:ext cx="533400" cy="505599"/>
            <a:chOff x="1905000" y="990600"/>
            <a:chExt cx="1066800" cy="505599"/>
          </a:xfrm>
        </p:grpSpPr>
        <p:sp>
          <p:nvSpPr>
            <p:cNvPr id="22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57400" y="12192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019800" y="1524000"/>
            <a:ext cx="1066800" cy="505599"/>
            <a:chOff x="1905000" y="990600"/>
            <a:chExt cx="1066800" cy="505599"/>
          </a:xfrm>
        </p:grpSpPr>
        <p:sp>
          <p:nvSpPr>
            <p:cNvPr id="28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57400" y="12192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057400" y="1524000"/>
            <a:ext cx="914400" cy="505599"/>
            <a:chOff x="1219200" y="990600"/>
            <a:chExt cx="685800" cy="505599"/>
          </a:xfrm>
        </p:grpSpPr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685800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19200" y="12192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903133" y="1524000"/>
            <a:ext cx="745067" cy="505599"/>
            <a:chOff x="1219200" y="990600"/>
            <a:chExt cx="685800" cy="505599"/>
          </a:xfrm>
        </p:grpSpPr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685800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19200" y="12192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638800" y="1524000"/>
            <a:ext cx="381000" cy="505599"/>
            <a:chOff x="1164337" y="990600"/>
            <a:chExt cx="1234439" cy="505599"/>
          </a:xfrm>
        </p:grpSpPr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932688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64337" y="1219200"/>
              <a:ext cx="1234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4775200" y="2362200"/>
            <a:ext cx="635000" cy="1143000"/>
            <a:chOff x="4851400" y="3200400"/>
            <a:chExt cx="635000" cy="1143000"/>
          </a:xfrm>
        </p:grpSpPr>
        <p:cxnSp>
          <p:nvCxnSpPr>
            <p:cNvPr id="88" name="Straight Arrow Connector 87"/>
            <p:cNvCxnSpPr/>
            <p:nvPr/>
          </p:nvCxnSpPr>
          <p:spPr>
            <a:xfrm>
              <a:off x="48514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>
              <a:off x="4851400" y="3581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4851400" y="3962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>
              <a:off x="4851400" y="3200400"/>
              <a:ext cx="5969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851400" y="3200400"/>
              <a:ext cx="635000" cy="1143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4851400" y="3581400"/>
              <a:ext cx="61595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>
              <a:off x="4851400" y="3581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 flipV="1">
              <a:off x="48514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4851400" y="3962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>
              <a:off x="4851400" y="3200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 flipV="1">
              <a:off x="48514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/>
            <p:nvPr/>
          </p:nvCxnSpPr>
          <p:spPr>
            <a:xfrm flipV="1">
              <a:off x="4864100" y="3200400"/>
              <a:ext cx="6223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/>
          <p:cNvGrpSpPr/>
          <p:nvPr/>
        </p:nvGrpSpPr>
        <p:grpSpPr>
          <a:xfrm>
            <a:off x="3098800" y="2362200"/>
            <a:ext cx="635000" cy="1143000"/>
            <a:chOff x="3175000" y="3200400"/>
            <a:chExt cx="635000" cy="1143000"/>
          </a:xfrm>
        </p:grpSpPr>
        <p:cxnSp>
          <p:nvCxnSpPr>
            <p:cNvPr id="85" name="Straight Arrow Connector 84"/>
            <p:cNvCxnSpPr/>
            <p:nvPr/>
          </p:nvCxnSpPr>
          <p:spPr>
            <a:xfrm>
              <a:off x="3175000" y="3200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3175000" y="3581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3175000" y="3962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3175000" y="3200400"/>
              <a:ext cx="635000" cy="1143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V="1">
              <a:off x="3175000" y="3200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31750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>
              <a:off x="3175000" y="3200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/>
            <p:nvPr/>
          </p:nvCxnSpPr>
          <p:spPr>
            <a:xfrm flipV="1">
              <a:off x="31750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 flipV="1">
              <a:off x="3175000" y="3581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/>
            <p:nvPr/>
          </p:nvCxnSpPr>
          <p:spPr>
            <a:xfrm flipV="1">
              <a:off x="31750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/>
            <p:cNvCxnSpPr/>
            <p:nvPr/>
          </p:nvCxnSpPr>
          <p:spPr>
            <a:xfrm flipV="1">
              <a:off x="3175000" y="3962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/>
            <p:nvPr/>
          </p:nvCxnSpPr>
          <p:spPr>
            <a:xfrm>
              <a:off x="31750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/>
          <p:cNvGrpSpPr/>
          <p:nvPr/>
        </p:nvGrpSpPr>
        <p:grpSpPr>
          <a:xfrm>
            <a:off x="1828800" y="2209800"/>
            <a:ext cx="1371600" cy="1877199"/>
            <a:chOff x="1905000" y="3048000"/>
            <a:chExt cx="1371600" cy="1877199"/>
          </a:xfrm>
        </p:grpSpPr>
        <p:grpSp>
          <p:nvGrpSpPr>
            <p:cNvPr id="4" name="Group 3"/>
            <p:cNvGrpSpPr/>
            <p:nvPr/>
          </p:nvGrpSpPr>
          <p:grpSpPr>
            <a:xfrm>
              <a:off x="1981200" y="3048000"/>
              <a:ext cx="1143000" cy="1447800"/>
              <a:chOff x="685800" y="2895600"/>
              <a:chExt cx="1143000" cy="1447800"/>
            </a:xfrm>
          </p:grpSpPr>
          <p:sp>
            <p:nvSpPr>
              <p:cNvPr id="48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276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England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49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2895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John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50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657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IMF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53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4038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latin typeface="Calibri" pitchFamily="34" charset="0"/>
                  </a:rPr>
                  <a:t>a</a:t>
                </a:r>
                <a:r>
                  <a:rPr lang="en-US" sz="1200" dirty="0" smtClean="0">
                    <a:latin typeface="Calibri" pitchFamily="34" charset="0"/>
                  </a:rPr>
                  <a:t>n active hiker</a:t>
                </a:r>
                <a:endParaRPr lang="en-US" sz="1200" dirty="0">
                  <a:latin typeface="Calibri" pitchFamily="34" charset="0"/>
                </a:endParaRPr>
              </a:p>
            </p:txBody>
          </p:sp>
        </p:grpSp>
        <p:sp>
          <p:nvSpPr>
            <p:cNvPr id="163" name="TextBox 162"/>
            <p:cNvSpPr txBox="1"/>
            <p:nvPr/>
          </p:nvSpPr>
          <p:spPr>
            <a:xfrm>
              <a:off x="1905000" y="464820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Subject</a:t>
              </a:r>
              <a:endParaRPr lang="en-US" sz="1200" dirty="0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5410200" y="2209800"/>
            <a:ext cx="1371600" cy="1877199"/>
            <a:chOff x="5486400" y="3048000"/>
            <a:chExt cx="1371600" cy="1877199"/>
          </a:xfrm>
        </p:grpSpPr>
        <p:grpSp>
          <p:nvGrpSpPr>
            <p:cNvPr id="79" name="Group 78"/>
            <p:cNvGrpSpPr/>
            <p:nvPr/>
          </p:nvGrpSpPr>
          <p:grpSpPr>
            <a:xfrm>
              <a:off x="5562600" y="3048000"/>
              <a:ext cx="1143000" cy="1447800"/>
              <a:chOff x="685800" y="2895600"/>
              <a:chExt cx="1143000" cy="1447800"/>
            </a:xfrm>
          </p:grpSpPr>
          <p:sp>
            <p:nvSpPr>
              <p:cNvPr id="80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276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England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1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2895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John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2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657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IMF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3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4038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latin typeface="Calibri" pitchFamily="34" charset="0"/>
                  </a:rPr>
                  <a:t>a</a:t>
                </a:r>
                <a:r>
                  <a:rPr lang="en-US" sz="1200" dirty="0" smtClean="0">
                    <a:latin typeface="Calibri" pitchFamily="34" charset="0"/>
                  </a:rPr>
                  <a:t>n active hiker</a:t>
                </a:r>
                <a:endParaRPr lang="en-US" sz="1200" dirty="0">
                  <a:latin typeface="Calibri" pitchFamily="34" charset="0"/>
                </a:endParaRPr>
              </a:p>
            </p:txBody>
          </p:sp>
        </p:grpSp>
        <p:sp>
          <p:nvSpPr>
            <p:cNvPr id="164" name="TextBox 163"/>
            <p:cNvSpPr txBox="1"/>
            <p:nvPr/>
          </p:nvSpPr>
          <p:spPr>
            <a:xfrm>
              <a:off x="5486400" y="464820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Object</a:t>
              </a:r>
              <a:endParaRPr lang="en-US" sz="1200" dirty="0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3759200" y="2209800"/>
            <a:ext cx="965200" cy="1888867"/>
            <a:chOff x="3835400" y="3048000"/>
            <a:chExt cx="965200" cy="1888867"/>
          </a:xfrm>
        </p:grpSpPr>
        <p:grpSp>
          <p:nvGrpSpPr>
            <p:cNvPr id="160" name="Group 159"/>
            <p:cNvGrpSpPr/>
            <p:nvPr/>
          </p:nvGrpSpPr>
          <p:grpSpPr>
            <a:xfrm>
              <a:off x="3835400" y="3048000"/>
              <a:ext cx="965200" cy="1066800"/>
              <a:chOff x="3835400" y="3048000"/>
              <a:chExt cx="965200" cy="1066800"/>
            </a:xfrm>
          </p:grpSpPr>
          <p:sp>
            <p:nvSpPr>
              <p:cNvPr id="57" name="Rectangle 12"/>
              <p:cNvSpPr>
                <a:spLocks noChangeArrowheads="1"/>
              </p:cNvSpPr>
              <p:nvPr/>
            </p:nvSpPr>
            <p:spPr bwMode="auto">
              <a:xfrm>
                <a:off x="3835400" y="3048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comes from</a:t>
                </a:r>
                <a:endParaRPr lang="en-US" sz="1200" dirty="0"/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>
                <a:off x="3835400" y="3429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works for</a:t>
                </a:r>
                <a:endParaRPr lang="en-US" sz="1200" dirty="0"/>
              </a:p>
            </p:txBody>
          </p:sp>
          <p:sp>
            <p:nvSpPr>
              <p:cNvPr id="59" name="Rectangle 12"/>
              <p:cNvSpPr>
                <a:spLocks noChangeArrowheads="1"/>
              </p:cNvSpPr>
              <p:nvPr/>
            </p:nvSpPr>
            <p:spPr bwMode="auto">
              <a:xfrm>
                <a:off x="3835400" y="3810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is</a:t>
                </a:r>
                <a:endParaRPr lang="en-US" sz="1200" dirty="0"/>
              </a:p>
            </p:txBody>
          </p:sp>
        </p:grpSp>
        <p:sp>
          <p:nvSpPr>
            <p:cNvPr id="165" name="TextBox 164"/>
            <p:cNvSpPr txBox="1"/>
            <p:nvPr/>
          </p:nvSpPr>
          <p:spPr>
            <a:xfrm>
              <a:off x="3962400" y="4659868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Verb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3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19200" y="1475601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John  comes from                           ,  works  for                                   ,   and    is                                        .</a:t>
            </a:r>
            <a:endParaRPr lang="en-US" sz="1200" dirty="0"/>
          </a:p>
        </p:txBody>
      </p:sp>
      <p:sp>
        <p:nvSpPr>
          <p:cNvPr id="6" name="AutoShape 30" descr="Purple mesh"/>
          <p:cNvSpPr>
            <a:spLocks noChangeArrowheads="1"/>
          </p:cNvSpPr>
          <p:nvPr/>
        </p:nvSpPr>
        <p:spPr bwMode="auto">
          <a:xfrm>
            <a:off x="2514599" y="1447800"/>
            <a:ext cx="762001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 smtClean="0">
                <a:latin typeface="Calibri" pitchFamily="34" charset="0"/>
              </a:rPr>
              <a:t>England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7" name="AutoShape 30" descr="Purple mesh"/>
          <p:cNvSpPr>
            <a:spLocks noChangeArrowheads="1"/>
          </p:cNvSpPr>
          <p:nvPr/>
        </p:nvSpPr>
        <p:spPr bwMode="auto">
          <a:xfrm>
            <a:off x="4343400" y="1447800"/>
            <a:ext cx="762000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 smtClean="0">
                <a:latin typeface="Calibri" pitchFamily="34" charset="0"/>
              </a:rPr>
              <a:t>IMF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8" name="AutoShape 30" descr="Purple mesh"/>
          <p:cNvSpPr>
            <a:spLocks noChangeArrowheads="1"/>
          </p:cNvSpPr>
          <p:nvPr/>
        </p:nvSpPr>
        <p:spPr bwMode="auto">
          <a:xfrm>
            <a:off x="6324600" y="1447800"/>
            <a:ext cx="1143000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Calibri" pitchFamily="34" charset="0"/>
              </a:rPr>
              <a:t>a</a:t>
            </a:r>
            <a:r>
              <a:rPr lang="en-US" sz="1200" dirty="0" smtClean="0">
                <a:latin typeface="Calibri" pitchFamily="34" charset="0"/>
              </a:rPr>
              <a:t>n active hiker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05000" y="2667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42672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Left-Right decoding according to objects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295400" y="18288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John comes from England </a:t>
            </a:r>
            <a:endParaRPr 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1295400" y="2286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IMF comes from England 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1295400" y="3048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an active hiker is England </a:t>
            </a:r>
            <a:endParaRPr lang="en-US" sz="10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1600201" y="2133600"/>
            <a:ext cx="1600200" cy="1219200"/>
            <a:chOff x="1600200" y="2133600"/>
            <a:chExt cx="1769533" cy="12192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600200" y="21336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600200" y="2590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00200" y="3352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3429000" y="18288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John comes from IMF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3429000" y="2286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John works for IMF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3505200" y="3048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an active hiker is IMF </a:t>
            </a:r>
            <a:endParaRPr lang="en-US" sz="1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793067" y="2133600"/>
            <a:ext cx="1540933" cy="1219200"/>
            <a:chOff x="3793067" y="2133600"/>
            <a:chExt cx="1786466" cy="121920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3793067" y="21336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93067" y="2590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810000" y="3352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/>
          <p:cNvCxnSpPr/>
          <p:nvPr/>
        </p:nvCxnSpPr>
        <p:spPr>
          <a:xfrm>
            <a:off x="5926667" y="2133600"/>
            <a:ext cx="1769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0" y="18288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John comes from an active hiker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4114800" y="2667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248400" y="2297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5926667" y="2971800"/>
            <a:ext cx="1769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15000" y="2667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John is an active hiker</a:t>
            </a:r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5715000" y="3048000"/>
            <a:ext cx="2209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IMF is an active hiker</a:t>
            </a:r>
            <a:endParaRPr lang="en-US" sz="1000" dirty="0"/>
          </a:p>
        </p:txBody>
      </p:sp>
      <p:cxnSp>
        <p:nvCxnSpPr>
          <p:cNvPr id="48" name="Straight Connector 47"/>
          <p:cNvCxnSpPr/>
          <p:nvPr/>
        </p:nvCxnSpPr>
        <p:spPr>
          <a:xfrm>
            <a:off x="5943600" y="3352800"/>
            <a:ext cx="1769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200401" y="2133600"/>
            <a:ext cx="592666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200401" y="2133600"/>
            <a:ext cx="607272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200401" y="2133600"/>
            <a:ext cx="592666" cy="457200"/>
          </a:xfrm>
          <a:prstGeom prst="straightConnector1">
            <a:avLst/>
          </a:prstGeom>
          <a:ln w="3492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314184" y="2590800"/>
            <a:ext cx="612483" cy="381000"/>
          </a:xfrm>
          <a:prstGeom prst="straightConnector1">
            <a:avLst/>
          </a:prstGeom>
          <a:ln w="3492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200401" y="2133600"/>
            <a:ext cx="592666" cy="457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200401" y="2590800"/>
            <a:ext cx="592666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200401" y="2590800"/>
            <a:ext cx="607272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200401" y="3352800"/>
            <a:ext cx="592666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3200401" y="2590800"/>
            <a:ext cx="592666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3200401" y="2133600"/>
            <a:ext cx="592666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319394" y="2133600"/>
            <a:ext cx="607273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5319394" y="2133600"/>
            <a:ext cx="624206" cy="838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5334000" y="2133600"/>
            <a:ext cx="609600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5319394" y="2133600"/>
            <a:ext cx="607273" cy="457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5334000" y="2590800"/>
            <a:ext cx="609600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5334000" y="2133600"/>
            <a:ext cx="592667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5334000" y="3352800"/>
            <a:ext cx="607273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5334000" y="2971800"/>
            <a:ext cx="592667" cy="381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94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381000" y="2311101"/>
            <a:ext cx="1524000" cy="3505200"/>
            <a:chOff x="381000" y="1981200"/>
            <a:chExt cx="1524000" cy="3505200"/>
          </a:xfrm>
        </p:grpSpPr>
        <p:grpSp>
          <p:nvGrpSpPr>
            <p:cNvPr id="9" name="Group 8"/>
            <p:cNvGrpSpPr/>
            <p:nvPr/>
          </p:nvGrpSpPr>
          <p:grpSpPr>
            <a:xfrm>
              <a:off x="533400" y="4953000"/>
              <a:ext cx="1219200" cy="381000"/>
              <a:chOff x="533400" y="4419600"/>
              <a:chExt cx="1371600" cy="38100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533400" y="4419600"/>
              <a:ext cx="1219200" cy="381000"/>
              <a:chOff x="533400" y="4419600"/>
              <a:chExt cx="1371600" cy="38100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33400" y="3886200"/>
              <a:ext cx="1219200" cy="381000"/>
              <a:chOff x="533400" y="4419600"/>
              <a:chExt cx="1371600" cy="38100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533400" y="3352800"/>
              <a:ext cx="1219200" cy="381000"/>
              <a:chOff x="533400" y="4419600"/>
              <a:chExt cx="1371600" cy="38100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381000" y="1981200"/>
              <a:ext cx="1524000" cy="3505200"/>
              <a:chOff x="381000" y="1981200"/>
              <a:chExt cx="1524000" cy="35052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533400" y="2819400"/>
              <a:ext cx="1219200" cy="381000"/>
              <a:chOff x="533400" y="4419600"/>
              <a:chExt cx="1371600" cy="381000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/>
          <p:cNvGrpSpPr/>
          <p:nvPr/>
        </p:nvGrpSpPr>
        <p:grpSpPr>
          <a:xfrm>
            <a:off x="2286000" y="3149301"/>
            <a:ext cx="1219200" cy="381000"/>
            <a:chOff x="2971800" y="2819400"/>
            <a:chExt cx="1219200" cy="381000"/>
          </a:xfrm>
        </p:grpSpPr>
        <p:sp>
          <p:nvSpPr>
            <p:cNvPr id="52" name="Rounded Rectangle 51"/>
            <p:cNvSpPr/>
            <p:nvPr/>
          </p:nvSpPr>
          <p:spPr>
            <a:xfrm>
              <a:off x="2971800" y="2819400"/>
              <a:ext cx="1219200" cy="381000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3048000" y="31242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Freeform 58"/>
          <p:cNvSpPr/>
          <p:nvPr/>
        </p:nvSpPr>
        <p:spPr>
          <a:xfrm>
            <a:off x="1143000" y="2220246"/>
            <a:ext cx="1752600" cy="870440"/>
          </a:xfrm>
          <a:custGeom>
            <a:avLst/>
            <a:gdLst>
              <a:gd name="connsiteX0" fmla="*/ 0 w 1872762"/>
              <a:gd name="connsiteY0" fmla="*/ 870440 h 870440"/>
              <a:gd name="connsiteX1" fmla="*/ 659424 w 1872762"/>
              <a:gd name="connsiteY1" fmla="*/ 1 h 870440"/>
              <a:gd name="connsiteX2" fmla="*/ 1872762 w 1872762"/>
              <a:gd name="connsiteY2" fmla="*/ 861647 h 870440"/>
              <a:gd name="connsiteX3" fmla="*/ 1872762 w 1872762"/>
              <a:gd name="connsiteY3" fmla="*/ 861647 h 87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2762" h="870440">
                <a:moveTo>
                  <a:pt x="0" y="870440"/>
                </a:moveTo>
                <a:cubicBezTo>
                  <a:pt x="173648" y="435953"/>
                  <a:pt x="347297" y="1466"/>
                  <a:pt x="659424" y="1"/>
                </a:cubicBezTo>
                <a:cubicBezTo>
                  <a:pt x="971551" y="-1465"/>
                  <a:pt x="1872762" y="861647"/>
                  <a:pt x="1872762" y="861647"/>
                </a:cubicBezTo>
                <a:lnTo>
                  <a:pt x="1872762" y="861647"/>
                </a:lnTo>
              </a:path>
            </a:pathLst>
          </a:cu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/>
          <p:cNvGrpSpPr/>
          <p:nvPr/>
        </p:nvGrpSpPr>
        <p:grpSpPr>
          <a:xfrm>
            <a:off x="6248400" y="2311101"/>
            <a:ext cx="1524000" cy="3505200"/>
            <a:chOff x="381000" y="1981200"/>
            <a:chExt cx="1524000" cy="3505200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381000" y="1981200"/>
              <a:ext cx="0" cy="350520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905000" y="1981200"/>
              <a:ext cx="0" cy="350520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381000" y="5486400"/>
              <a:ext cx="1524000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Arrow Connector 111"/>
          <p:cNvCxnSpPr>
            <a:stCxn id="52" idx="3"/>
            <a:endCxn id="84" idx="1"/>
          </p:cNvCxnSpPr>
          <p:nvPr/>
        </p:nvCxnSpPr>
        <p:spPr>
          <a:xfrm flipV="1">
            <a:off x="3505200" y="2425401"/>
            <a:ext cx="4572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52" idx="3"/>
            <a:endCxn id="94" idx="1"/>
          </p:cNvCxnSpPr>
          <p:nvPr/>
        </p:nvCxnSpPr>
        <p:spPr>
          <a:xfrm flipV="1">
            <a:off x="3505200" y="2958801"/>
            <a:ext cx="457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52" idx="3"/>
            <a:endCxn id="99" idx="1"/>
          </p:cNvCxnSpPr>
          <p:nvPr/>
        </p:nvCxnSpPr>
        <p:spPr>
          <a:xfrm>
            <a:off x="3505200" y="3339801"/>
            <a:ext cx="4572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52" idx="3"/>
            <a:endCxn id="104" idx="1"/>
          </p:cNvCxnSpPr>
          <p:nvPr/>
        </p:nvCxnSpPr>
        <p:spPr>
          <a:xfrm>
            <a:off x="3505200" y="3339801"/>
            <a:ext cx="4572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/>
          <p:cNvGrpSpPr/>
          <p:nvPr/>
        </p:nvGrpSpPr>
        <p:grpSpPr>
          <a:xfrm>
            <a:off x="3962400" y="2234901"/>
            <a:ext cx="1219200" cy="2438400"/>
            <a:chOff x="3962400" y="1905000"/>
            <a:chExt cx="1219200" cy="2438400"/>
          </a:xfrm>
        </p:grpSpPr>
        <p:grpSp>
          <p:nvGrpSpPr>
            <p:cNvPr id="90" name="Group 89"/>
            <p:cNvGrpSpPr/>
            <p:nvPr/>
          </p:nvGrpSpPr>
          <p:grpSpPr>
            <a:xfrm>
              <a:off x="3962400" y="1905000"/>
              <a:ext cx="1219200" cy="381000"/>
              <a:chOff x="3962400" y="1905000"/>
              <a:chExt cx="1219200" cy="381000"/>
            </a:xfrm>
          </p:grpSpPr>
          <p:grpSp>
            <p:nvGrpSpPr>
              <p:cNvPr id="83" name="Group 82"/>
              <p:cNvGrpSpPr/>
              <p:nvPr/>
            </p:nvGrpSpPr>
            <p:grpSpPr>
              <a:xfrm>
                <a:off x="3962400" y="1905000"/>
                <a:ext cx="1219200" cy="381000"/>
                <a:chOff x="2971800" y="2819400"/>
                <a:chExt cx="1219200" cy="381000"/>
              </a:xfrm>
            </p:grpSpPr>
            <p:sp>
              <p:nvSpPr>
                <p:cNvPr id="84" name="Rounded Rectangle 83"/>
                <p:cNvSpPr/>
                <p:nvPr/>
              </p:nvSpPr>
              <p:spPr>
                <a:xfrm>
                  <a:off x="2971800" y="2819400"/>
                  <a:ext cx="12192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3048000" y="31242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9" name="Straight Connector 88"/>
              <p:cNvCxnSpPr/>
              <p:nvPr/>
            </p:nvCxnSpPr>
            <p:spPr>
              <a:xfrm>
                <a:off x="4038600" y="2133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/>
            <p:cNvGrpSpPr/>
            <p:nvPr/>
          </p:nvGrpSpPr>
          <p:grpSpPr>
            <a:xfrm>
              <a:off x="3962400" y="2438400"/>
              <a:ext cx="1219200" cy="381000"/>
              <a:chOff x="3962400" y="1905000"/>
              <a:chExt cx="1219200" cy="381000"/>
            </a:xfrm>
          </p:grpSpPr>
          <p:grpSp>
            <p:nvGrpSpPr>
              <p:cNvPr id="92" name="Group 91"/>
              <p:cNvGrpSpPr/>
              <p:nvPr/>
            </p:nvGrpSpPr>
            <p:grpSpPr>
              <a:xfrm>
                <a:off x="3962400" y="1905000"/>
                <a:ext cx="1219200" cy="381000"/>
                <a:chOff x="2971800" y="2819400"/>
                <a:chExt cx="1219200" cy="381000"/>
              </a:xfrm>
            </p:grpSpPr>
            <p:sp>
              <p:nvSpPr>
                <p:cNvPr id="94" name="Rounded Rectangle 93"/>
                <p:cNvSpPr/>
                <p:nvPr/>
              </p:nvSpPr>
              <p:spPr>
                <a:xfrm>
                  <a:off x="2971800" y="2819400"/>
                  <a:ext cx="12192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3048000" y="31242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Straight Connector 92"/>
              <p:cNvCxnSpPr/>
              <p:nvPr/>
            </p:nvCxnSpPr>
            <p:spPr>
              <a:xfrm>
                <a:off x="4038600" y="2133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/>
            <p:cNvGrpSpPr/>
            <p:nvPr/>
          </p:nvGrpSpPr>
          <p:grpSpPr>
            <a:xfrm>
              <a:off x="3962400" y="3352800"/>
              <a:ext cx="1219200" cy="381000"/>
              <a:chOff x="3962400" y="1905000"/>
              <a:chExt cx="1219200" cy="381000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3962400" y="1905000"/>
                <a:ext cx="1219200" cy="381000"/>
                <a:chOff x="2971800" y="2819400"/>
                <a:chExt cx="1219200" cy="381000"/>
              </a:xfrm>
            </p:grpSpPr>
            <p:sp>
              <p:nvSpPr>
                <p:cNvPr id="99" name="Rounded Rectangle 98"/>
                <p:cNvSpPr/>
                <p:nvPr/>
              </p:nvSpPr>
              <p:spPr>
                <a:xfrm>
                  <a:off x="2971800" y="2819400"/>
                  <a:ext cx="12192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3048000" y="31242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8" name="Straight Connector 97"/>
              <p:cNvCxnSpPr/>
              <p:nvPr/>
            </p:nvCxnSpPr>
            <p:spPr>
              <a:xfrm>
                <a:off x="4038600" y="2133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3962400" y="3962400"/>
              <a:ext cx="1219200" cy="381000"/>
              <a:chOff x="3962400" y="1905000"/>
              <a:chExt cx="1219200" cy="381000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962400" y="1905000"/>
                <a:ext cx="1219200" cy="381000"/>
                <a:chOff x="2971800" y="2819400"/>
                <a:chExt cx="1219200" cy="381000"/>
              </a:xfrm>
            </p:grpSpPr>
            <p:sp>
              <p:nvSpPr>
                <p:cNvPr id="104" name="Rounded Rectangle 103"/>
                <p:cNvSpPr/>
                <p:nvPr/>
              </p:nvSpPr>
              <p:spPr>
                <a:xfrm>
                  <a:off x="2971800" y="2819400"/>
                  <a:ext cx="12192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3048000" y="31242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" name="Straight Connector 102"/>
              <p:cNvCxnSpPr/>
              <p:nvPr/>
            </p:nvCxnSpPr>
            <p:spPr>
              <a:xfrm>
                <a:off x="4038600" y="2133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2" name="TextBox 121"/>
            <p:cNvSpPr txBox="1"/>
            <p:nvPr/>
          </p:nvSpPr>
          <p:spPr>
            <a:xfrm>
              <a:off x="4343400" y="2667000"/>
              <a:ext cx="83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…</a:t>
              </a:r>
              <a:endParaRPr lang="en-US" sz="2400" dirty="0"/>
            </a:p>
          </p:txBody>
        </p:sp>
      </p:grpSp>
      <p:sp>
        <p:nvSpPr>
          <p:cNvPr id="124" name="Rounded Rectangle 123"/>
          <p:cNvSpPr/>
          <p:nvPr/>
        </p:nvSpPr>
        <p:spPr>
          <a:xfrm>
            <a:off x="6400800" y="5282901"/>
            <a:ext cx="1219200" cy="381000"/>
          </a:xfrm>
          <a:prstGeom prst="round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/>
          <p:cNvCxnSpPr/>
          <p:nvPr/>
        </p:nvCxnSpPr>
        <p:spPr>
          <a:xfrm>
            <a:off x="6468533" y="55877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400800" y="4749501"/>
            <a:ext cx="1219200" cy="381000"/>
          </a:xfrm>
          <a:prstGeom prst="round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Connector 126"/>
          <p:cNvCxnSpPr/>
          <p:nvPr/>
        </p:nvCxnSpPr>
        <p:spPr>
          <a:xfrm>
            <a:off x="6468533" y="50543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6400800" y="3682701"/>
            <a:ext cx="1219200" cy="381000"/>
          </a:xfrm>
          <a:prstGeom prst="round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/>
          <p:cNvCxnSpPr/>
          <p:nvPr/>
        </p:nvCxnSpPr>
        <p:spPr>
          <a:xfrm>
            <a:off x="6468533" y="39875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6400800" y="3149301"/>
            <a:ext cx="1219200" cy="381000"/>
          </a:xfrm>
          <a:prstGeom prst="roundRect">
            <a:avLst/>
          </a:prstGeom>
          <a:solidFill>
            <a:schemeClr val="bg1"/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6468533" y="34541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6477000" y="33779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6477000" y="39113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477000" y="49781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6477000" y="5511501"/>
            <a:ext cx="10837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4563208" y="1600200"/>
            <a:ext cx="2347546" cy="1261886"/>
          </a:xfrm>
          <a:custGeom>
            <a:avLst/>
            <a:gdLst>
              <a:gd name="connsiteX0" fmla="*/ 0 w 2347546"/>
              <a:gd name="connsiteY0" fmla="*/ 584878 h 1261886"/>
              <a:gd name="connsiteX1" fmla="*/ 1389184 w 2347546"/>
              <a:gd name="connsiteY1" fmla="*/ 22170 h 1261886"/>
              <a:gd name="connsiteX2" fmla="*/ 2347546 w 2347546"/>
              <a:gd name="connsiteY2" fmla="*/ 1261886 h 1261886"/>
              <a:gd name="connsiteX3" fmla="*/ 2347546 w 2347546"/>
              <a:gd name="connsiteY3" fmla="*/ 1261886 h 126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7546" h="1261886">
                <a:moveTo>
                  <a:pt x="0" y="584878"/>
                </a:moveTo>
                <a:cubicBezTo>
                  <a:pt x="498963" y="247106"/>
                  <a:pt x="997926" y="-90665"/>
                  <a:pt x="1389184" y="22170"/>
                </a:cubicBezTo>
                <a:cubicBezTo>
                  <a:pt x="1780442" y="135005"/>
                  <a:pt x="2347546" y="1261886"/>
                  <a:pt x="2347546" y="1261886"/>
                </a:cubicBezTo>
                <a:lnTo>
                  <a:pt x="2347546" y="1261886"/>
                </a:lnTo>
              </a:path>
            </a:pathLst>
          </a:cu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/>
          <p:cNvSpPr txBox="1"/>
          <p:nvPr/>
        </p:nvSpPr>
        <p:spPr>
          <a:xfrm>
            <a:off x="6705600" y="4012326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…</a:t>
            </a:r>
            <a:endParaRPr lang="en-US" sz="2400" dirty="0"/>
          </a:p>
        </p:txBody>
      </p:sp>
      <p:sp>
        <p:nvSpPr>
          <p:cNvPr id="145" name="Slide Number Placeholder 1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028092" y="2302267"/>
            <a:ext cx="723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pop</a:t>
            </a:r>
            <a:endParaRPr 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4191000" y="1777701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Expand-Hypothesis</a:t>
            </a: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533400" y="57912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HYPS with 1 simple sentence</a:t>
            </a:r>
            <a:endParaRPr lang="en-US" sz="1200" dirty="0"/>
          </a:p>
        </p:txBody>
      </p:sp>
      <p:sp>
        <p:nvSpPr>
          <p:cNvPr id="77" name="TextBox 76"/>
          <p:cNvSpPr txBox="1"/>
          <p:nvPr/>
        </p:nvSpPr>
        <p:spPr>
          <a:xfrm>
            <a:off x="6400800" y="57912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expand</a:t>
            </a:r>
            <a:r>
              <a:rPr lang="en-US" sz="1200" baseline="-25000" dirty="0" err="1" smtClean="0"/>
              <a:t>h</a:t>
            </a:r>
            <a:endParaRPr lang="en-US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246682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875692" y="1148570"/>
            <a:ext cx="5867400" cy="3608276"/>
            <a:chOff x="381000" y="914400"/>
            <a:chExt cx="7391400" cy="4903676"/>
          </a:xfrm>
        </p:grpSpPr>
        <p:grpSp>
          <p:nvGrpSpPr>
            <p:cNvPr id="31" name="Group 30"/>
            <p:cNvGrpSpPr/>
            <p:nvPr/>
          </p:nvGrpSpPr>
          <p:grpSpPr>
            <a:xfrm>
              <a:off x="381000" y="2312876"/>
              <a:ext cx="1524000" cy="3505200"/>
              <a:chOff x="381000" y="1981200"/>
              <a:chExt cx="1524000" cy="350520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533400" y="49530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5" name="Rounded Rectangle 4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" name="Straight Connector 6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>
                <a:off x="533400" y="44196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11" name="Rounded Rectangle 10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>
                <a:off x="533400" y="38862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14" name="Rounded Rectangle 13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533400" y="33528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/>
              <p:cNvGrpSpPr/>
              <p:nvPr/>
            </p:nvGrpSpPr>
            <p:grpSpPr>
              <a:xfrm>
                <a:off x="381000" y="1981200"/>
                <a:ext cx="1524000" cy="3505200"/>
                <a:chOff x="381000" y="1981200"/>
                <a:chExt cx="1524000" cy="3505200"/>
              </a:xfrm>
            </p:grpSpPr>
            <p:cxnSp>
              <p:nvCxnSpPr>
                <p:cNvPr id="20" name="Straight Connector 19"/>
                <p:cNvCxnSpPr/>
                <p:nvPr/>
              </p:nvCxnSpPr>
              <p:spPr>
                <a:xfrm>
                  <a:off x="381000" y="1981200"/>
                  <a:ext cx="0" cy="350520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1905000" y="1981200"/>
                  <a:ext cx="0" cy="350520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H="1">
                  <a:off x="381000" y="5486400"/>
                  <a:ext cx="1524000" cy="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Group 53"/>
            <p:cNvGrpSpPr/>
            <p:nvPr/>
          </p:nvGrpSpPr>
          <p:grpSpPr>
            <a:xfrm>
              <a:off x="2286000" y="3151076"/>
              <a:ext cx="1219200" cy="381000"/>
              <a:chOff x="2971800" y="2819400"/>
              <a:chExt cx="1219200" cy="381000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2971800" y="28194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/>
              <p:nvPr/>
            </p:nvCxnSpPr>
            <p:spPr>
              <a:xfrm>
                <a:off x="3048000" y="3124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6248400" y="1474676"/>
              <a:ext cx="1524000" cy="4343400"/>
              <a:chOff x="381000" y="1981200"/>
              <a:chExt cx="1524000" cy="35052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Arrow Connector 111"/>
            <p:cNvCxnSpPr>
              <a:stCxn id="52" idx="3"/>
              <a:endCxn id="84" idx="1"/>
            </p:cNvCxnSpPr>
            <p:nvPr/>
          </p:nvCxnSpPr>
          <p:spPr>
            <a:xfrm flipV="1">
              <a:off x="3505200" y="2427176"/>
              <a:ext cx="4572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52" idx="3"/>
              <a:endCxn id="94" idx="1"/>
            </p:cNvCxnSpPr>
            <p:nvPr/>
          </p:nvCxnSpPr>
          <p:spPr>
            <a:xfrm flipV="1">
              <a:off x="3505200" y="2960576"/>
              <a:ext cx="4572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52" idx="3"/>
              <a:endCxn id="99" idx="1"/>
            </p:cNvCxnSpPr>
            <p:nvPr/>
          </p:nvCxnSpPr>
          <p:spPr>
            <a:xfrm>
              <a:off x="3505200" y="3341576"/>
              <a:ext cx="4572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52" idx="3"/>
              <a:endCxn id="104" idx="1"/>
            </p:cNvCxnSpPr>
            <p:nvPr/>
          </p:nvCxnSpPr>
          <p:spPr>
            <a:xfrm>
              <a:off x="3505200" y="3341576"/>
              <a:ext cx="457200" cy="1143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/>
            <p:cNvGrpSpPr/>
            <p:nvPr/>
          </p:nvGrpSpPr>
          <p:grpSpPr>
            <a:xfrm>
              <a:off x="3962400" y="2236676"/>
              <a:ext cx="1219200" cy="2438400"/>
              <a:chOff x="3962400" y="1905000"/>
              <a:chExt cx="1219200" cy="2438400"/>
            </a:xfrm>
          </p:grpSpPr>
          <p:grpSp>
            <p:nvGrpSpPr>
              <p:cNvPr id="90" name="Group 89"/>
              <p:cNvGrpSpPr/>
              <p:nvPr/>
            </p:nvGrpSpPr>
            <p:grpSpPr>
              <a:xfrm>
                <a:off x="3962400" y="1905000"/>
                <a:ext cx="1219200" cy="381000"/>
                <a:chOff x="3962400" y="1905000"/>
                <a:chExt cx="1219200" cy="381000"/>
              </a:xfrm>
            </p:grpSpPr>
            <p:grpSp>
              <p:nvGrpSpPr>
                <p:cNvPr id="83" name="Group 82"/>
                <p:cNvGrpSpPr/>
                <p:nvPr/>
              </p:nvGrpSpPr>
              <p:grpSpPr>
                <a:xfrm>
                  <a:off x="3962400" y="1905000"/>
                  <a:ext cx="1219200" cy="381000"/>
                  <a:chOff x="2971800" y="2819400"/>
                  <a:chExt cx="1219200" cy="381000"/>
                </a:xfrm>
              </p:grpSpPr>
              <p:sp>
                <p:nvSpPr>
                  <p:cNvPr id="84" name="Rounded Rectangle 83"/>
                  <p:cNvSpPr/>
                  <p:nvPr/>
                </p:nvSpPr>
                <p:spPr>
                  <a:xfrm>
                    <a:off x="2971800" y="2819400"/>
                    <a:ext cx="12192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3048000" y="3124200"/>
                    <a:ext cx="1083733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4038600" y="21336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/>
            </p:nvGrpSpPr>
            <p:grpSpPr>
              <a:xfrm>
                <a:off x="3962400" y="2438400"/>
                <a:ext cx="1219200" cy="381000"/>
                <a:chOff x="3962400" y="1905000"/>
                <a:chExt cx="1219200" cy="381000"/>
              </a:xfrm>
            </p:grpSpPr>
            <p:grpSp>
              <p:nvGrpSpPr>
                <p:cNvPr id="92" name="Group 91"/>
                <p:cNvGrpSpPr/>
                <p:nvPr/>
              </p:nvGrpSpPr>
              <p:grpSpPr>
                <a:xfrm>
                  <a:off x="3962400" y="1905000"/>
                  <a:ext cx="1219200" cy="381000"/>
                  <a:chOff x="2971800" y="2819400"/>
                  <a:chExt cx="1219200" cy="381000"/>
                </a:xfrm>
              </p:grpSpPr>
              <p:sp>
                <p:nvSpPr>
                  <p:cNvPr id="94" name="Rounded Rectangle 93"/>
                  <p:cNvSpPr/>
                  <p:nvPr/>
                </p:nvSpPr>
                <p:spPr>
                  <a:xfrm>
                    <a:off x="2971800" y="2819400"/>
                    <a:ext cx="12192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5" name="Straight Connector 94"/>
                  <p:cNvCxnSpPr/>
                  <p:nvPr/>
                </p:nvCxnSpPr>
                <p:spPr>
                  <a:xfrm>
                    <a:off x="3048000" y="3124200"/>
                    <a:ext cx="1083733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4038600" y="21336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" name="Group 95"/>
              <p:cNvGrpSpPr/>
              <p:nvPr/>
            </p:nvGrpSpPr>
            <p:grpSpPr>
              <a:xfrm>
                <a:off x="3962400" y="3352800"/>
                <a:ext cx="1219200" cy="381000"/>
                <a:chOff x="3962400" y="1905000"/>
                <a:chExt cx="1219200" cy="381000"/>
              </a:xfrm>
            </p:grpSpPr>
            <p:grpSp>
              <p:nvGrpSpPr>
                <p:cNvPr id="97" name="Group 96"/>
                <p:cNvGrpSpPr/>
                <p:nvPr/>
              </p:nvGrpSpPr>
              <p:grpSpPr>
                <a:xfrm>
                  <a:off x="3962400" y="1905000"/>
                  <a:ext cx="1219200" cy="381000"/>
                  <a:chOff x="2971800" y="2819400"/>
                  <a:chExt cx="1219200" cy="381000"/>
                </a:xfrm>
              </p:grpSpPr>
              <p:sp>
                <p:nvSpPr>
                  <p:cNvPr id="99" name="Rounded Rectangle 98"/>
                  <p:cNvSpPr/>
                  <p:nvPr/>
                </p:nvSpPr>
                <p:spPr>
                  <a:xfrm>
                    <a:off x="2971800" y="2819400"/>
                    <a:ext cx="12192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0" name="Straight Connector 99"/>
                  <p:cNvCxnSpPr/>
                  <p:nvPr/>
                </p:nvCxnSpPr>
                <p:spPr>
                  <a:xfrm>
                    <a:off x="3048000" y="3124200"/>
                    <a:ext cx="1083733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4038600" y="21336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00"/>
              <p:cNvGrpSpPr/>
              <p:nvPr/>
            </p:nvGrpSpPr>
            <p:grpSpPr>
              <a:xfrm>
                <a:off x="3962400" y="3962400"/>
                <a:ext cx="1219200" cy="381000"/>
                <a:chOff x="3962400" y="1905000"/>
                <a:chExt cx="1219200" cy="381000"/>
              </a:xfrm>
            </p:grpSpPr>
            <p:grpSp>
              <p:nvGrpSpPr>
                <p:cNvPr id="102" name="Group 101"/>
                <p:cNvGrpSpPr/>
                <p:nvPr/>
              </p:nvGrpSpPr>
              <p:grpSpPr>
                <a:xfrm>
                  <a:off x="3962400" y="1905000"/>
                  <a:ext cx="1219200" cy="381000"/>
                  <a:chOff x="2971800" y="2819400"/>
                  <a:chExt cx="1219200" cy="381000"/>
                </a:xfrm>
              </p:grpSpPr>
              <p:sp>
                <p:nvSpPr>
                  <p:cNvPr id="104" name="Rounded Rectangle 103"/>
                  <p:cNvSpPr/>
                  <p:nvPr/>
                </p:nvSpPr>
                <p:spPr>
                  <a:xfrm>
                    <a:off x="2971800" y="2819400"/>
                    <a:ext cx="12192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5" name="Straight Connector 104"/>
                  <p:cNvCxnSpPr/>
                  <p:nvPr/>
                </p:nvCxnSpPr>
                <p:spPr>
                  <a:xfrm>
                    <a:off x="3048000" y="3124200"/>
                    <a:ext cx="1083733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3" name="Straight Connector 102"/>
                <p:cNvCxnSpPr/>
                <p:nvPr/>
              </p:nvCxnSpPr>
              <p:spPr>
                <a:xfrm>
                  <a:off x="4038600" y="21336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2" name="TextBox 121"/>
              <p:cNvSpPr txBox="1"/>
              <p:nvPr/>
            </p:nvSpPr>
            <p:spPr>
              <a:xfrm>
                <a:off x="4343400" y="2667000"/>
                <a:ext cx="838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…</a:t>
                </a:r>
                <a:endParaRPr lang="en-US" sz="2400" dirty="0"/>
              </a:p>
            </p:txBody>
          </p:sp>
        </p:grpSp>
        <p:sp>
          <p:nvSpPr>
            <p:cNvPr id="124" name="Rounded Rectangle 123"/>
            <p:cNvSpPr/>
            <p:nvPr/>
          </p:nvSpPr>
          <p:spPr>
            <a:xfrm>
              <a:off x="6400800" y="5284676"/>
              <a:ext cx="1219200" cy="381000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6468533" y="5589476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/>
            <p:cNvSpPr/>
            <p:nvPr/>
          </p:nvSpPr>
          <p:spPr>
            <a:xfrm>
              <a:off x="6400800" y="4522676"/>
              <a:ext cx="1219200" cy="381000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3" name="Straight Connector 132"/>
            <p:cNvCxnSpPr/>
            <p:nvPr/>
          </p:nvCxnSpPr>
          <p:spPr>
            <a:xfrm>
              <a:off x="6468533" y="4827476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>
              <a:off x="6477000" y="4751276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6477000" y="5513276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6705600" y="4699901"/>
              <a:ext cx="83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…</a:t>
              </a:r>
              <a:endParaRPr lang="en-US" sz="2400" dirty="0"/>
            </a:p>
          </p:txBody>
        </p:sp>
        <p:sp>
          <p:nvSpPr>
            <p:cNvPr id="4" name="Freeform 3"/>
            <p:cNvSpPr/>
            <p:nvPr/>
          </p:nvSpPr>
          <p:spPr>
            <a:xfrm>
              <a:off x="1081454" y="1761091"/>
              <a:ext cx="1740877" cy="1823739"/>
            </a:xfrm>
            <a:custGeom>
              <a:avLst/>
              <a:gdLst>
                <a:gd name="connsiteX0" fmla="*/ 0 w 1740877"/>
                <a:gd name="connsiteY0" fmla="*/ 1823739 h 1823739"/>
                <a:gd name="connsiteX1" fmla="*/ 597877 w 1740877"/>
                <a:gd name="connsiteY1" fmla="*/ 3731 h 1823739"/>
                <a:gd name="connsiteX2" fmla="*/ 1740877 w 1740877"/>
                <a:gd name="connsiteY2" fmla="*/ 1313785 h 1823739"/>
                <a:gd name="connsiteX3" fmla="*/ 1740877 w 1740877"/>
                <a:gd name="connsiteY3" fmla="*/ 1313785 h 1823739"/>
                <a:gd name="connsiteX4" fmla="*/ 1740877 w 1740877"/>
                <a:gd name="connsiteY4" fmla="*/ 1313785 h 182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0877" h="1823739">
                  <a:moveTo>
                    <a:pt x="0" y="1823739"/>
                  </a:moveTo>
                  <a:cubicBezTo>
                    <a:pt x="153865" y="956231"/>
                    <a:pt x="307731" y="88723"/>
                    <a:pt x="597877" y="3731"/>
                  </a:cubicBezTo>
                  <a:cubicBezTo>
                    <a:pt x="888023" y="-81261"/>
                    <a:pt x="1740877" y="1313785"/>
                    <a:pt x="1740877" y="1313785"/>
                  </a:cubicBezTo>
                  <a:lnTo>
                    <a:pt x="1740877" y="1313785"/>
                  </a:lnTo>
                  <a:lnTo>
                    <a:pt x="1740877" y="1313785"/>
                  </a:lnTo>
                </a:path>
              </a:pathLst>
            </a:custGeom>
            <a:ln w="15875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6400800" y="1779476"/>
              <a:ext cx="1219200" cy="2514600"/>
              <a:chOff x="4724400" y="152400"/>
              <a:chExt cx="1219200" cy="2514600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4724400" y="22860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4792133" y="25908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ounded Rectangle 81"/>
              <p:cNvSpPr/>
              <p:nvPr/>
            </p:nvSpPr>
            <p:spPr>
              <a:xfrm>
                <a:off x="4724400" y="17526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6" name="Straight Connector 85"/>
              <p:cNvCxnSpPr/>
              <p:nvPr/>
            </p:nvCxnSpPr>
            <p:spPr>
              <a:xfrm>
                <a:off x="4792133" y="2057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ounded Rectangle 86"/>
              <p:cNvSpPr/>
              <p:nvPr/>
            </p:nvSpPr>
            <p:spPr>
              <a:xfrm>
                <a:off x="4724400" y="685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/>
              <p:cNvCxnSpPr/>
              <p:nvPr/>
            </p:nvCxnSpPr>
            <p:spPr>
              <a:xfrm>
                <a:off x="4792133" y="990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ounded Rectangle 105"/>
              <p:cNvSpPr/>
              <p:nvPr/>
            </p:nvSpPr>
            <p:spPr>
              <a:xfrm>
                <a:off x="4724400" y="1524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7" name="Straight Connector 106"/>
              <p:cNvCxnSpPr/>
              <p:nvPr/>
            </p:nvCxnSpPr>
            <p:spPr>
              <a:xfrm>
                <a:off x="4792133" y="457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4800600" y="381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4800600" y="914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4800600" y="1981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4800600" y="2514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/>
              <p:cNvSpPr txBox="1"/>
              <p:nvPr/>
            </p:nvSpPr>
            <p:spPr>
              <a:xfrm>
                <a:off x="5029200" y="1015425"/>
                <a:ext cx="838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…</a:t>
                </a:r>
                <a:endParaRPr lang="en-US" sz="2400" dirty="0"/>
              </a:p>
            </p:txBody>
          </p:sp>
        </p:grpSp>
        <p:sp>
          <p:nvSpPr>
            <p:cNvPr id="8" name="Freeform 7"/>
            <p:cNvSpPr/>
            <p:nvPr/>
          </p:nvSpPr>
          <p:spPr>
            <a:xfrm>
              <a:off x="4580792" y="914400"/>
              <a:ext cx="2400300" cy="1202114"/>
            </a:xfrm>
            <a:custGeom>
              <a:avLst/>
              <a:gdLst>
                <a:gd name="connsiteX0" fmla="*/ 0 w 2400300"/>
                <a:gd name="connsiteY0" fmla="*/ 1202114 h 1202114"/>
                <a:gd name="connsiteX1" fmla="*/ 861646 w 2400300"/>
                <a:gd name="connsiteY1" fmla="*/ 6361 h 1202114"/>
                <a:gd name="connsiteX2" fmla="*/ 2400300 w 2400300"/>
                <a:gd name="connsiteY2" fmla="*/ 815253 h 120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00300" h="1202114">
                  <a:moveTo>
                    <a:pt x="0" y="1202114"/>
                  </a:moveTo>
                  <a:cubicBezTo>
                    <a:pt x="230798" y="636476"/>
                    <a:pt x="461596" y="70838"/>
                    <a:pt x="861646" y="6361"/>
                  </a:cubicBezTo>
                  <a:cubicBezTo>
                    <a:pt x="1261696" y="-58116"/>
                    <a:pt x="1830998" y="378568"/>
                    <a:pt x="2400300" y="815253"/>
                  </a:cubicBezTo>
                </a:path>
              </a:pathLst>
            </a:custGeom>
            <a:ln w="15875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028090" y="2304041"/>
              <a:ext cx="875974" cy="501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pop</a:t>
              </a:r>
              <a:endParaRPr lang="en-US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640834" y="1129708"/>
              <a:ext cx="2133599" cy="878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Expand-Hypothesis</a:t>
              </a:r>
              <a:endParaRPr lang="en-US" dirty="0"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1676400" y="4756846"/>
            <a:ext cx="1711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HYPS with 1 simple sentence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6219092" y="475684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expand</a:t>
            </a:r>
            <a:r>
              <a:rPr lang="en-US" baseline="-25000" dirty="0" err="1" smtClean="0"/>
              <a:t>h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0295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5</a:t>
            </a:fld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85800" y="5791200"/>
            <a:ext cx="1904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HYPS with 1 simple sentence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895600" y="5791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expand</a:t>
            </a:r>
            <a:r>
              <a:rPr lang="en-US" baseline="-25000" dirty="0" err="1" smtClean="0"/>
              <a:t>h</a:t>
            </a:r>
            <a:endParaRPr lang="en-US" baseline="-25000" dirty="0"/>
          </a:p>
        </p:txBody>
      </p:sp>
      <p:grpSp>
        <p:nvGrpSpPr>
          <p:cNvPr id="4" name="Group 3"/>
          <p:cNvGrpSpPr/>
          <p:nvPr/>
        </p:nvGrpSpPr>
        <p:grpSpPr>
          <a:xfrm>
            <a:off x="914400" y="2005398"/>
            <a:ext cx="5486400" cy="3785802"/>
            <a:chOff x="381000" y="152400"/>
            <a:chExt cx="6019800" cy="5638800"/>
          </a:xfrm>
        </p:grpSpPr>
        <p:grpSp>
          <p:nvGrpSpPr>
            <p:cNvPr id="27" name="Group 26"/>
            <p:cNvGrpSpPr/>
            <p:nvPr/>
          </p:nvGrpSpPr>
          <p:grpSpPr>
            <a:xfrm>
              <a:off x="381000" y="2286000"/>
              <a:ext cx="1524000" cy="3505200"/>
              <a:chOff x="381000" y="1981200"/>
              <a:chExt cx="1524000" cy="35052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2438400" y="304800"/>
              <a:ext cx="1524000" cy="5486400"/>
              <a:chOff x="381000" y="1981200"/>
              <a:chExt cx="1524000" cy="35052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Rounded Rectangle 123"/>
            <p:cNvSpPr/>
            <p:nvPr/>
          </p:nvSpPr>
          <p:spPr>
            <a:xfrm>
              <a:off x="2590800" y="5334000"/>
              <a:ext cx="1219200" cy="381000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Connector 124"/>
            <p:cNvCxnSpPr/>
            <p:nvPr/>
          </p:nvCxnSpPr>
          <p:spPr>
            <a:xfrm>
              <a:off x="2658533" y="56388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/>
            <p:cNvSpPr/>
            <p:nvPr/>
          </p:nvSpPr>
          <p:spPr>
            <a:xfrm>
              <a:off x="2590800" y="4572000"/>
              <a:ext cx="1219200" cy="381000"/>
            </a:xfrm>
            <a:prstGeom prst="roundRect">
              <a:avLst/>
            </a:prstGeom>
            <a:solidFill>
              <a:schemeClr val="bg1"/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3" name="Straight Connector 132"/>
            <p:cNvCxnSpPr/>
            <p:nvPr/>
          </p:nvCxnSpPr>
          <p:spPr>
            <a:xfrm>
              <a:off x="2658533" y="48768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>
              <a:off x="2667000" y="48006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2667000" y="55626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2895600" y="4542735"/>
              <a:ext cx="83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…</a:t>
              </a:r>
              <a:endParaRPr lang="en-US" sz="2400" dirty="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590800" y="152400"/>
              <a:ext cx="1219200" cy="2514600"/>
              <a:chOff x="4724400" y="152400"/>
              <a:chExt cx="1219200" cy="2514600"/>
            </a:xfrm>
          </p:grpSpPr>
          <p:sp>
            <p:nvSpPr>
              <p:cNvPr id="80" name="Rounded Rectangle 79"/>
              <p:cNvSpPr/>
              <p:nvPr/>
            </p:nvSpPr>
            <p:spPr>
              <a:xfrm>
                <a:off x="4724400" y="22860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4792133" y="25908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ounded Rectangle 81"/>
              <p:cNvSpPr/>
              <p:nvPr/>
            </p:nvSpPr>
            <p:spPr>
              <a:xfrm>
                <a:off x="4724400" y="17526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6" name="Straight Connector 85"/>
              <p:cNvCxnSpPr/>
              <p:nvPr/>
            </p:nvCxnSpPr>
            <p:spPr>
              <a:xfrm>
                <a:off x="4792133" y="2057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ounded Rectangle 86"/>
              <p:cNvSpPr/>
              <p:nvPr/>
            </p:nvSpPr>
            <p:spPr>
              <a:xfrm>
                <a:off x="4724400" y="685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/>
              <p:cNvCxnSpPr/>
              <p:nvPr/>
            </p:nvCxnSpPr>
            <p:spPr>
              <a:xfrm>
                <a:off x="4792133" y="990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ounded Rectangle 105"/>
              <p:cNvSpPr/>
              <p:nvPr/>
            </p:nvSpPr>
            <p:spPr>
              <a:xfrm>
                <a:off x="4724400" y="1524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7" name="Straight Connector 106"/>
              <p:cNvCxnSpPr/>
              <p:nvPr/>
            </p:nvCxnSpPr>
            <p:spPr>
              <a:xfrm>
                <a:off x="4792133" y="457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4800600" y="381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4800600" y="914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4800600" y="1981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4800600" y="2514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/>
              <p:cNvSpPr txBox="1"/>
              <p:nvPr/>
            </p:nvSpPr>
            <p:spPr>
              <a:xfrm>
                <a:off x="5029201" y="797339"/>
                <a:ext cx="838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…</a:t>
                </a:r>
                <a:endParaRPr lang="en-US" sz="2400" dirty="0"/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2895600" y="3200400"/>
              <a:ext cx="83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…</a:t>
              </a:r>
              <a:endParaRPr lang="en-US" sz="2400" dirty="0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4876800" y="2286000"/>
              <a:ext cx="1524000" cy="3505200"/>
              <a:chOff x="2209800" y="1981200"/>
              <a:chExt cx="1524000" cy="3505200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2209800" y="1981200"/>
                <a:ext cx="1524000" cy="3505200"/>
                <a:chOff x="381000" y="1981200"/>
                <a:chExt cx="1524000" cy="3505200"/>
              </a:xfrm>
            </p:grpSpPr>
            <p:grpSp>
              <p:nvGrpSpPr>
                <p:cNvPr id="45" name="Group 44"/>
                <p:cNvGrpSpPr/>
                <p:nvPr/>
              </p:nvGrpSpPr>
              <p:grpSpPr>
                <a:xfrm>
                  <a:off x="533400" y="49530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62" name="Rounded Rectangle 61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3" name="Straight Connector 62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/>
                <p:cNvGrpSpPr/>
                <p:nvPr/>
              </p:nvGrpSpPr>
              <p:grpSpPr>
                <a:xfrm>
                  <a:off x="533400" y="44196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60" name="Rounded Rectangle 59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1" name="Straight Connector 60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7" name="Group 46"/>
                <p:cNvGrpSpPr/>
                <p:nvPr/>
              </p:nvGrpSpPr>
              <p:grpSpPr>
                <a:xfrm>
                  <a:off x="533400" y="38862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58" name="Rounded Rectangle 57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9" name="Straight Connector 58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Group 47"/>
                <p:cNvGrpSpPr/>
                <p:nvPr/>
              </p:nvGrpSpPr>
              <p:grpSpPr>
                <a:xfrm>
                  <a:off x="533400" y="33528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56" name="Rounded Rectangle 55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7" name="Straight Connector 56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" name="Group 48"/>
                <p:cNvGrpSpPr/>
                <p:nvPr/>
              </p:nvGrpSpPr>
              <p:grpSpPr>
                <a:xfrm>
                  <a:off x="381000" y="1981200"/>
                  <a:ext cx="1524000" cy="3505200"/>
                  <a:chOff x="381000" y="1981200"/>
                  <a:chExt cx="1524000" cy="3505200"/>
                </a:xfrm>
              </p:grpSpPr>
              <p:cxnSp>
                <p:nvCxnSpPr>
                  <p:cNvPr id="53" name="Straight Connector 52"/>
                  <p:cNvCxnSpPr/>
                  <p:nvPr/>
                </p:nvCxnSpPr>
                <p:spPr>
                  <a:xfrm>
                    <a:off x="381000" y="1981200"/>
                    <a:ext cx="0" cy="350520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1905000" y="1981200"/>
                    <a:ext cx="0" cy="350520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H="1">
                    <a:off x="381000" y="5486400"/>
                    <a:ext cx="1524000" cy="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" name="Group 49"/>
                <p:cNvGrpSpPr/>
                <p:nvPr/>
              </p:nvGrpSpPr>
              <p:grpSpPr>
                <a:xfrm>
                  <a:off x="533400" y="28194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51" name="Rounded Rectangle 50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2" name="Straight Connector 51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0" name="Straight Connector 39"/>
              <p:cNvCxnSpPr/>
              <p:nvPr/>
            </p:nvCxnSpPr>
            <p:spPr>
              <a:xfrm>
                <a:off x="2421467" y="3048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2438400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2438400" y="41148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2438400" y="4648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2438400" y="5181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2"/>
            <p:cNvGrpSpPr/>
            <p:nvPr/>
          </p:nvGrpSpPr>
          <p:grpSpPr>
            <a:xfrm>
              <a:off x="3962400" y="457200"/>
              <a:ext cx="914400" cy="5029200"/>
              <a:chOff x="3962400" y="457200"/>
              <a:chExt cx="2133600" cy="5029200"/>
            </a:xfrm>
          </p:grpSpPr>
          <p:cxnSp>
            <p:nvCxnSpPr>
              <p:cNvPr id="64" name="Straight Arrow Connector 63"/>
              <p:cNvCxnSpPr/>
              <p:nvPr/>
            </p:nvCxnSpPr>
            <p:spPr>
              <a:xfrm>
                <a:off x="3962400" y="457200"/>
                <a:ext cx="2133600" cy="2133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/>
              <p:nvPr/>
            </p:nvCxnSpPr>
            <p:spPr>
              <a:xfrm>
                <a:off x="3962400" y="914400"/>
                <a:ext cx="2133600" cy="1981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3962400" y="1447800"/>
                <a:ext cx="2133600" cy="19812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 flipV="1">
                <a:off x="3962400" y="5181600"/>
                <a:ext cx="2133600" cy="304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 flipV="1">
                <a:off x="3962400" y="4749225"/>
                <a:ext cx="2133600" cy="43237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V="1">
                <a:off x="3962400" y="4495801"/>
                <a:ext cx="2133600" cy="38099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/>
              <p:nvPr/>
            </p:nvCxnSpPr>
            <p:spPr>
              <a:xfrm>
                <a:off x="3962400" y="4114800"/>
                <a:ext cx="21336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>
                <a:off x="3962400" y="3429000"/>
                <a:ext cx="2133600" cy="381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TextBox 78"/>
            <p:cNvSpPr txBox="1"/>
            <p:nvPr/>
          </p:nvSpPr>
          <p:spPr>
            <a:xfrm>
              <a:off x="4419598" y="1214735"/>
              <a:ext cx="1479550" cy="962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Prune Hypothesis</a:t>
              </a:r>
              <a:endParaRPr lang="en-US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4800600" y="57912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HYPS with 2 simple sentences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8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3124200" y="762000"/>
            <a:ext cx="1524000" cy="5033665"/>
            <a:chOff x="7162800" y="1214734"/>
            <a:chExt cx="1524000" cy="5033665"/>
          </a:xfrm>
        </p:grpSpPr>
        <p:grpSp>
          <p:nvGrpSpPr>
            <p:cNvPr id="69" name="Group 68"/>
            <p:cNvGrpSpPr/>
            <p:nvPr/>
          </p:nvGrpSpPr>
          <p:grpSpPr>
            <a:xfrm>
              <a:off x="7315200" y="5257800"/>
              <a:ext cx="1219200" cy="381000"/>
              <a:chOff x="5715000" y="3352800"/>
              <a:chExt cx="1219200" cy="381000"/>
            </a:xfrm>
          </p:grpSpPr>
          <p:sp>
            <p:nvSpPr>
              <p:cNvPr id="110" name="Rounded Rectangle 109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7315200" y="4724400"/>
              <a:ext cx="1219200" cy="381000"/>
              <a:chOff x="5715000" y="3352800"/>
              <a:chExt cx="1219200" cy="381000"/>
            </a:xfrm>
          </p:grpSpPr>
          <p:sp>
            <p:nvSpPr>
              <p:cNvPr id="105" name="Rounded Rectangle 104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6" name="Straight Connector 105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5774267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5774267" y="3429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7315200" y="3657600"/>
              <a:ext cx="1219200" cy="381000"/>
              <a:chOff x="5715000" y="3352800"/>
              <a:chExt cx="1219200" cy="381000"/>
            </a:xfrm>
          </p:grpSpPr>
          <p:sp>
            <p:nvSpPr>
              <p:cNvPr id="101" name="Rounded Rectangle 100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Connector 101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5774267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/>
            <p:cNvGrpSpPr/>
            <p:nvPr/>
          </p:nvGrpSpPr>
          <p:grpSpPr>
            <a:xfrm>
              <a:off x="7315200" y="3124200"/>
              <a:ext cx="1219200" cy="381000"/>
              <a:chOff x="5715000" y="3352800"/>
              <a:chExt cx="1219200" cy="381000"/>
            </a:xfrm>
          </p:grpSpPr>
          <p:sp>
            <p:nvSpPr>
              <p:cNvPr id="97" name="Rounded Rectangle 96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8" name="Straight Connector 97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5774267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/>
            <p:cNvGrpSpPr/>
            <p:nvPr/>
          </p:nvGrpSpPr>
          <p:grpSpPr>
            <a:xfrm>
              <a:off x="7315200" y="2590800"/>
              <a:ext cx="1219200" cy="381000"/>
              <a:chOff x="5715000" y="3352800"/>
              <a:chExt cx="1219200" cy="38100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5" name="Straight Connector 94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/>
            <p:cNvGrpSpPr/>
            <p:nvPr/>
          </p:nvGrpSpPr>
          <p:grpSpPr>
            <a:xfrm>
              <a:off x="7315200" y="2057400"/>
              <a:ext cx="1219200" cy="381000"/>
              <a:chOff x="5715000" y="3352800"/>
              <a:chExt cx="1219200" cy="381000"/>
            </a:xfrm>
          </p:grpSpPr>
          <p:sp>
            <p:nvSpPr>
              <p:cNvPr id="91" name="Rounded Rectangle 90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/>
            <p:cNvGrpSpPr/>
            <p:nvPr/>
          </p:nvGrpSpPr>
          <p:grpSpPr>
            <a:xfrm>
              <a:off x="7315200" y="1524000"/>
              <a:ext cx="1219200" cy="381000"/>
              <a:chOff x="5715000" y="3352800"/>
              <a:chExt cx="1219200" cy="381000"/>
            </a:xfrm>
          </p:grpSpPr>
          <p:sp>
            <p:nvSpPr>
              <p:cNvPr id="86" name="Rounded Rectangle 85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7" name="Straight Connector 86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5774267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5774267" y="3429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/>
            <p:cNvGrpSpPr/>
            <p:nvPr/>
          </p:nvGrpSpPr>
          <p:grpSpPr>
            <a:xfrm>
              <a:off x="7315200" y="5791200"/>
              <a:ext cx="1219200" cy="381000"/>
              <a:chOff x="5715000" y="3352800"/>
              <a:chExt cx="1219200" cy="381000"/>
            </a:xfrm>
          </p:grpSpPr>
          <p:sp>
            <p:nvSpPr>
              <p:cNvPr id="82" name="Rounded Rectangle 81"/>
              <p:cNvSpPr/>
              <p:nvPr/>
            </p:nvSpPr>
            <p:spPr>
              <a:xfrm>
                <a:off x="5715000" y="3352800"/>
                <a:ext cx="12192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/>
              <p:cNvCxnSpPr/>
              <p:nvPr/>
            </p:nvCxnSpPr>
            <p:spPr>
              <a:xfrm>
                <a:off x="5782733" y="3657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5774267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5774267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7162800" y="1214734"/>
              <a:ext cx="1524000" cy="5033665"/>
              <a:chOff x="381000" y="1981200"/>
              <a:chExt cx="1524000" cy="350520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/>
            <p:cNvSpPr txBox="1"/>
            <p:nvPr/>
          </p:nvSpPr>
          <p:spPr>
            <a:xfrm>
              <a:off x="7620000" y="3987225"/>
              <a:ext cx="838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…</a:t>
              </a:r>
              <a:endParaRPr lang="en-US" sz="2400" dirty="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3352800" y="57912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HypList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661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Decoding: beam search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381000" y="1981200"/>
            <a:ext cx="1524000" cy="3505200"/>
            <a:chOff x="381000" y="1981200"/>
            <a:chExt cx="1524000" cy="3505200"/>
          </a:xfrm>
        </p:grpSpPr>
        <p:grpSp>
          <p:nvGrpSpPr>
            <p:cNvPr id="9" name="Group 8"/>
            <p:cNvGrpSpPr/>
            <p:nvPr/>
          </p:nvGrpSpPr>
          <p:grpSpPr>
            <a:xfrm>
              <a:off x="533400" y="4953000"/>
              <a:ext cx="1219200" cy="381000"/>
              <a:chOff x="533400" y="4419600"/>
              <a:chExt cx="1371600" cy="38100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533400" y="4419600"/>
              <a:ext cx="1219200" cy="381000"/>
              <a:chOff x="533400" y="4419600"/>
              <a:chExt cx="1371600" cy="38100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533400" y="3886200"/>
              <a:ext cx="1219200" cy="381000"/>
              <a:chOff x="533400" y="4419600"/>
              <a:chExt cx="1371600" cy="38100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533400" y="3352800"/>
              <a:ext cx="1219200" cy="381000"/>
              <a:chOff x="533400" y="4419600"/>
              <a:chExt cx="1371600" cy="38100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381000" y="1981200"/>
              <a:ext cx="1524000" cy="3505200"/>
              <a:chOff x="381000" y="1981200"/>
              <a:chExt cx="1524000" cy="35052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381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905000" y="1981200"/>
                <a:ext cx="0" cy="35052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381000" y="548640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533400" y="2819400"/>
              <a:ext cx="1219200" cy="381000"/>
              <a:chOff x="533400" y="4419600"/>
              <a:chExt cx="1371600" cy="381000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533400" y="4419600"/>
                <a:ext cx="1371600" cy="381000"/>
              </a:xfrm>
              <a:prstGeom prst="roundRect">
                <a:avLst/>
              </a:prstGeom>
              <a:solidFill>
                <a:schemeClr val="bg1"/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609600" y="4724400"/>
                <a:ext cx="12192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Box 2"/>
          <p:cNvSpPr txBox="1"/>
          <p:nvPr/>
        </p:nvSpPr>
        <p:spPr>
          <a:xfrm>
            <a:off x="533400" y="57912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 </a:t>
            </a:r>
            <a:br>
              <a:rPr lang="en-US" dirty="0" smtClean="0"/>
            </a:br>
            <a:r>
              <a:rPr lang="en-US" dirty="0" smtClean="0"/>
              <a:t>simple sentence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209800" y="1981200"/>
            <a:ext cx="1524000" cy="3505200"/>
            <a:chOff x="2209800" y="1981200"/>
            <a:chExt cx="1524000" cy="3505200"/>
          </a:xfrm>
        </p:grpSpPr>
        <p:grpSp>
          <p:nvGrpSpPr>
            <p:cNvPr id="32" name="Group 31"/>
            <p:cNvGrpSpPr/>
            <p:nvPr/>
          </p:nvGrpSpPr>
          <p:grpSpPr>
            <a:xfrm>
              <a:off x="2209800" y="1981200"/>
              <a:ext cx="1524000" cy="3505200"/>
              <a:chOff x="381000" y="1981200"/>
              <a:chExt cx="1524000" cy="3505200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533400" y="49530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50" name="Rounded Rectangle 49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/>
              <p:cNvGrpSpPr/>
              <p:nvPr/>
            </p:nvGrpSpPr>
            <p:grpSpPr>
              <a:xfrm>
                <a:off x="533400" y="44196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48" name="Rounded Rectangle 47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9" name="Straight Connector 48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/>
              <p:cNvGrpSpPr/>
              <p:nvPr/>
            </p:nvGrpSpPr>
            <p:grpSpPr>
              <a:xfrm>
                <a:off x="533400" y="38862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46" name="Rounded Rectangle 45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/>
              <p:cNvGrpSpPr/>
              <p:nvPr/>
            </p:nvGrpSpPr>
            <p:grpSpPr>
              <a:xfrm>
                <a:off x="533400" y="33528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44" name="Rounded Rectangle 43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/>
              <p:cNvGrpSpPr/>
              <p:nvPr/>
            </p:nvGrpSpPr>
            <p:grpSpPr>
              <a:xfrm>
                <a:off x="381000" y="1981200"/>
                <a:ext cx="1524000" cy="3505200"/>
                <a:chOff x="381000" y="1981200"/>
                <a:chExt cx="1524000" cy="3505200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>
                  <a:off x="381000" y="1981200"/>
                  <a:ext cx="0" cy="350520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1905000" y="1981200"/>
                  <a:ext cx="0" cy="350520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H="1">
                  <a:off x="381000" y="5486400"/>
                  <a:ext cx="1524000" cy="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/>
              <p:cNvGrpSpPr/>
              <p:nvPr/>
            </p:nvGrpSpPr>
            <p:grpSpPr>
              <a:xfrm>
                <a:off x="533400" y="2819400"/>
                <a:ext cx="1219200" cy="381000"/>
                <a:chOff x="533400" y="4419600"/>
                <a:chExt cx="1371600" cy="381000"/>
              </a:xfrm>
            </p:grpSpPr>
            <p:sp>
              <p:nvSpPr>
                <p:cNvPr id="39" name="Rounded Rectangle 38"/>
                <p:cNvSpPr/>
                <p:nvPr/>
              </p:nvSpPr>
              <p:spPr>
                <a:xfrm>
                  <a:off x="533400" y="4419600"/>
                  <a:ext cx="1371600" cy="381000"/>
                </a:xfrm>
                <a:prstGeom prst="round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609600" y="4724400"/>
                  <a:ext cx="12192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5" name="Straight Connector 54"/>
            <p:cNvCxnSpPr/>
            <p:nvPr/>
          </p:nvCxnSpPr>
          <p:spPr>
            <a:xfrm>
              <a:off x="2421467" y="30480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438400" y="35814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438400" y="41148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2438400" y="46482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438400" y="51816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4038600" y="1981200"/>
            <a:ext cx="1524000" cy="3505200"/>
            <a:chOff x="4038600" y="1981200"/>
            <a:chExt cx="1524000" cy="3505200"/>
          </a:xfrm>
        </p:grpSpPr>
        <p:grpSp>
          <p:nvGrpSpPr>
            <p:cNvPr id="61" name="Group 60"/>
            <p:cNvGrpSpPr/>
            <p:nvPr/>
          </p:nvGrpSpPr>
          <p:grpSpPr>
            <a:xfrm>
              <a:off x="4038600" y="1981200"/>
              <a:ext cx="1524000" cy="3505200"/>
              <a:chOff x="2209800" y="1981200"/>
              <a:chExt cx="1524000" cy="3505200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2209800" y="1981200"/>
                <a:ext cx="1524000" cy="3505200"/>
                <a:chOff x="381000" y="1981200"/>
                <a:chExt cx="1524000" cy="3505200"/>
              </a:xfrm>
            </p:grpSpPr>
            <p:grpSp>
              <p:nvGrpSpPr>
                <p:cNvPr id="68" name="Group 67"/>
                <p:cNvGrpSpPr/>
                <p:nvPr/>
              </p:nvGrpSpPr>
              <p:grpSpPr>
                <a:xfrm>
                  <a:off x="533400" y="49530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86" name="Rounded Rectangle 85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7" name="Straight Connector 86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Group 68"/>
                <p:cNvGrpSpPr/>
                <p:nvPr/>
              </p:nvGrpSpPr>
              <p:grpSpPr>
                <a:xfrm>
                  <a:off x="533400" y="44196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84" name="Rounded Rectangle 83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/>
                <p:cNvGrpSpPr/>
                <p:nvPr/>
              </p:nvGrpSpPr>
              <p:grpSpPr>
                <a:xfrm>
                  <a:off x="533400" y="38862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82" name="Rounded Rectangle 81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3" name="Straight Connector 82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1" name="Group 70"/>
                <p:cNvGrpSpPr/>
                <p:nvPr/>
              </p:nvGrpSpPr>
              <p:grpSpPr>
                <a:xfrm>
                  <a:off x="533400" y="33528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80" name="Rounded Rectangle 79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1" name="Straight Connector 80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2" name="Group 71"/>
                <p:cNvGrpSpPr/>
                <p:nvPr/>
              </p:nvGrpSpPr>
              <p:grpSpPr>
                <a:xfrm>
                  <a:off x="381000" y="1981200"/>
                  <a:ext cx="1524000" cy="3505200"/>
                  <a:chOff x="381000" y="1981200"/>
                  <a:chExt cx="1524000" cy="3505200"/>
                </a:xfrm>
              </p:grpSpPr>
              <p:cxnSp>
                <p:nvCxnSpPr>
                  <p:cNvPr id="77" name="Straight Connector 76"/>
                  <p:cNvCxnSpPr/>
                  <p:nvPr/>
                </p:nvCxnSpPr>
                <p:spPr>
                  <a:xfrm>
                    <a:off x="381000" y="1981200"/>
                    <a:ext cx="0" cy="350520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/>
                  <p:cNvCxnSpPr/>
                  <p:nvPr/>
                </p:nvCxnSpPr>
                <p:spPr>
                  <a:xfrm>
                    <a:off x="1905000" y="1981200"/>
                    <a:ext cx="0" cy="350520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/>
                  <p:cNvCxnSpPr/>
                  <p:nvPr/>
                </p:nvCxnSpPr>
                <p:spPr>
                  <a:xfrm flipH="1">
                    <a:off x="381000" y="5486400"/>
                    <a:ext cx="1524000" cy="0"/>
                  </a:xfrm>
                  <a:prstGeom prst="line">
                    <a:avLst/>
                  </a:prstGeom>
                  <a:ln w="158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" name="Group 72"/>
                <p:cNvGrpSpPr/>
                <p:nvPr/>
              </p:nvGrpSpPr>
              <p:grpSpPr>
                <a:xfrm>
                  <a:off x="533400" y="2819400"/>
                  <a:ext cx="1219200" cy="381000"/>
                  <a:chOff x="533400" y="4419600"/>
                  <a:chExt cx="1371600" cy="381000"/>
                </a:xfrm>
              </p:grpSpPr>
              <p:sp>
                <p:nvSpPr>
                  <p:cNvPr id="74" name="Rounded Rectangle 73"/>
                  <p:cNvSpPr/>
                  <p:nvPr/>
                </p:nvSpPr>
                <p:spPr>
                  <a:xfrm>
                    <a:off x="533400" y="4419600"/>
                    <a:ext cx="1371600" cy="381000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76" name="Straight Connector 75"/>
                  <p:cNvCxnSpPr/>
                  <p:nvPr/>
                </p:nvCxnSpPr>
                <p:spPr>
                  <a:xfrm>
                    <a:off x="609600" y="4724400"/>
                    <a:ext cx="1219200" cy="0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3" name="Straight Connector 62"/>
              <p:cNvCxnSpPr/>
              <p:nvPr/>
            </p:nvCxnSpPr>
            <p:spPr>
              <a:xfrm>
                <a:off x="2421467" y="3048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438400" y="3581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2438400" y="41148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438400" y="4648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438400" y="5181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Straight Connector 87"/>
            <p:cNvCxnSpPr/>
            <p:nvPr/>
          </p:nvCxnSpPr>
          <p:spPr>
            <a:xfrm>
              <a:off x="4250267" y="29718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267200" y="35052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4267200" y="40386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4267200" y="45720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4267200" y="51054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867400" y="1981200"/>
            <a:ext cx="1524000" cy="3505200"/>
            <a:chOff x="5867400" y="1981200"/>
            <a:chExt cx="1524000" cy="3505200"/>
          </a:xfrm>
        </p:grpSpPr>
        <p:grpSp>
          <p:nvGrpSpPr>
            <p:cNvPr id="93" name="Group 92"/>
            <p:cNvGrpSpPr/>
            <p:nvPr/>
          </p:nvGrpSpPr>
          <p:grpSpPr>
            <a:xfrm>
              <a:off x="5867400" y="1981200"/>
              <a:ext cx="1524000" cy="3505200"/>
              <a:chOff x="4038600" y="1981200"/>
              <a:chExt cx="1524000" cy="3505200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4038600" y="1981200"/>
                <a:ext cx="1524000" cy="3505200"/>
                <a:chOff x="2209800" y="1981200"/>
                <a:chExt cx="1524000" cy="3505200"/>
              </a:xfrm>
            </p:grpSpPr>
            <p:grpSp>
              <p:nvGrpSpPr>
                <p:cNvPr id="100" name="Group 99"/>
                <p:cNvGrpSpPr/>
                <p:nvPr/>
              </p:nvGrpSpPr>
              <p:grpSpPr>
                <a:xfrm>
                  <a:off x="2209800" y="1981200"/>
                  <a:ext cx="1524000" cy="3505200"/>
                  <a:chOff x="381000" y="1981200"/>
                  <a:chExt cx="1524000" cy="3505200"/>
                </a:xfrm>
              </p:grpSpPr>
              <p:grpSp>
                <p:nvGrpSpPr>
                  <p:cNvPr id="106" name="Group 105"/>
                  <p:cNvGrpSpPr/>
                  <p:nvPr/>
                </p:nvGrpSpPr>
                <p:grpSpPr>
                  <a:xfrm>
                    <a:off x="533400" y="4953000"/>
                    <a:ext cx="1219200" cy="381000"/>
                    <a:chOff x="533400" y="4419600"/>
                    <a:chExt cx="1371600" cy="381000"/>
                  </a:xfrm>
                </p:grpSpPr>
                <p:sp>
                  <p:nvSpPr>
                    <p:cNvPr id="123" name="Rounded Rectangle 122"/>
                    <p:cNvSpPr/>
                    <p:nvPr/>
                  </p:nvSpPr>
                  <p:spPr>
                    <a:xfrm>
                      <a:off x="533400" y="4419600"/>
                      <a:ext cx="1371600" cy="3810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158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24" name="Straight Connector 123"/>
                    <p:cNvCxnSpPr/>
                    <p:nvPr/>
                  </p:nvCxnSpPr>
                  <p:spPr>
                    <a:xfrm>
                      <a:off x="609600" y="4724400"/>
                      <a:ext cx="1219200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" name="Group 106"/>
                  <p:cNvGrpSpPr/>
                  <p:nvPr/>
                </p:nvGrpSpPr>
                <p:grpSpPr>
                  <a:xfrm>
                    <a:off x="533400" y="4419600"/>
                    <a:ext cx="1219200" cy="381000"/>
                    <a:chOff x="533400" y="4419600"/>
                    <a:chExt cx="1371600" cy="381000"/>
                  </a:xfrm>
                </p:grpSpPr>
                <p:sp>
                  <p:nvSpPr>
                    <p:cNvPr id="121" name="Rounded Rectangle 120"/>
                    <p:cNvSpPr/>
                    <p:nvPr/>
                  </p:nvSpPr>
                  <p:spPr>
                    <a:xfrm>
                      <a:off x="533400" y="4419600"/>
                      <a:ext cx="1371600" cy="3810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158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22" name="Straight Connector 121"/>
                    <p:cNvCxnSpPr/>
                    <p:nvPr/>
                  </p:nvCxnSpPr>
                  <p:spPr>
                    <a:xfrm>
                      <a:off x="609600" y="4724400"/>
                      <a:ext cx="1219200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8" name="Group 107"/>
                  <p:cNvGrpSpPr/>
                  <p:nvPr/>
                </p:nvGrpSpPr>
                <p:grpSpPr>
                  <a:xfrm>
                    <a:off x="533400" y="3886200"/>
                    <a:ext cx="1219200" cy="381000"/>
                    <a:chOff x="533400" y="4419600"/>
                    <a:chExt cx="1371600" cy="381000"/>
                  </a:xfrm>
                </p:grpSpPr>
                <p:sp>
                  <p:nvSpPr>
                    <p:cNvPr id="119" name="Rounded Rectangle 118"/>
                    <p:cNvSpPr/>
                    <p:nvPr/>
                  </p:nvSpPr>
                  <p:spPr>
                    <a:xfrm>
                      <a:off x="533400" y="4419600"/>
                      <a:ext cx="1371600" cy="3810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158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20" name="Straight Connector 119"/>
                    <p:cNvCxnSpPr/>
                    <p:nvPr/>
                  </p:nvCxnSpPr>
                  <p:spPr>
                    <a:xfrm>
                      <a:off x="609600" y="4724400"/>
                      <a:ext cx="1219200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9" name="Group 108"/>
                  <p:cNvGrpSpPr/>
                  <p:nvPr/>
                </p:nvGrpSpPr>
                <p:grpSpPr>
                  <a:xfrm>
                    <a:off x="533400" y="3352800"/>
                    <a:ext cx="1219200" cy="381000"/>
                    <a:chOff x="533400" y="4419600"/>
                    <a:chExt cx="1371600" cy="381000"/>
                  </a:xfrm>
                </p:grpSpPr>
                <p:sp>
                  <p:nvSpPr>
                    <p:cNvPr id="117" name="Rounded Rectangle 116"/>
                    <p:cNvSpPr/>
                    <p:nvPr/>
                  </p:nvSpPr>
                  <p:spPr>
                    <a:xfrm>
                      <a:off x="533400" y="4419600"/>
                      <a:ext cx="1371600" cy="3810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158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18" name="Straight Connector 117"/>
                    <p:cNvCxnSpPr/>
                    <p:nvPr/>
                  </p:nvCxnSpPr>
                  <p:spPr>
                    <a:xfrm>
                      <a:off x="609600" y="4724400"/>
                      <a:ext cx="1219200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0" name="Group 109"/>
                  <p:cNvGrpSpPr/>
                  <p:nvPr/>
                </p:nvGrpSpPr>
                <p:grpSpPr>
                  <a:xfrm>
                    <a:off x="381000" y="1981200"/>
                    <a:ext cx="1524000" cy="3505200"/>
                    <a:chOff x="381000" y="1981200"/>
                    <a:chExt cx="1524000" cy="3505200"/>
                  </a:xfrm>
                </p:grpSpPr>
                <p:cxnSp>
                  <p:nvCxnSpPr>
                    <p:cNvPr id="114" name="Straight Connector 113"/>
                    <p:cNvCxnSpPr/>
                    <p:nvPr/>
                  </p:nvCxnSpPr>
                  <p:spPr>
                    <a:xfrm>
                      <a:off x="381000" y="1981200"/>
                      <a:ext cx="0" cy="3505200"/>
                    </a:xfrm>
                    <a:prstGeom prst="line">
                      <a:avLst/>
                    </a:prstGeom>
                    <a:ln w="158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Straight Connector 114"/>
                    <p:cNvCxnSpPr/>
                    <p:nvPr/>
                  </p:nvCxnSpPr>
                  <p:spPr>
                    <a:xfrm>
                      <a:off x="1905000" y="1981200"/>
                      <a:ext cx="0" cy="3505200"/>
                    </a:xfrm>
                    <a:prstGeom prst="line">
                      <a:avLst/>
                    </a:prstGeom>
                    <a:ln w="158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/>
                    <p:cNvCxnSpPr/>
                    <p:nvPr/>
                  </p:nvCxnSpPr>
                  <p:spPr>
                    <a:xfrm flipH="1">
                      <a:off x="381000" y="5486400"/>
                      <a:ext cx="1524000" cy="0"/>
                    </a:xfrm>
                    <a:prstGeom prst="line">
                      <a:avLst/>
                    </a:prstGeom>
                    <a:ln w="158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1" name="Group 110"/>
                  <p:cNvGrpSpPr/>
                  <p:nvPr/>
                </p:nvGrpSpPr>
                <p:grpSpPr>
                  <a:xfrm>
                    <a:off x="533400" y="2819400"/>
                    <a:ext cx="1219200" cy="381000"/>
                    <a:chOff x="533400" y="4419600"/>
                    <a:chExt cx="1371600" cy="381000"/>
                  </a:xfrm>
                </p:grpSpPr>
                <p:sp>
                  <p:nvSpPr>
                    <p:cNvPr id="112" name="Rounded Rectangle 111"/>
                    <p:cNvSpPr/>
                    <p:nvPr/>
                  </p:nvSpPr>
                  <p:spPr>
                    <a:xfrm>
                      <a:off x="533400" y="4419600"/>
                      <a:ext cx="1371600" cy="381000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15875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13" name="Straight Connector 112"/>
                    <p:cNvCxnSpPr/>
                    <p:nvPr/>
                  </p:nvCxnSpPr>
                  <p:spPr>
                    <a:xfrm>
                      <a:off x="609600" y="4724400"/>
                      <a:ext cx="1219200" cy="0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2421467" y="30480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2438400" y="35814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>
                  <a:off x="2438400" y="41148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2438400" y="46482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2438400" y="5181600"/>
                  <a:ext cx="1083733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/>
            </p:nvCxnSpPr>
            <p:spPr>
              <a:xfrm>
                <a:off x="4250267" y="29718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4267200" y="35052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4267200" y="40386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4267200" y="45720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4267200" y="5105400"/>
                <a:ext cx="108373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Straight Connector 124"/>
            <p:cNvCxnSpPr/>
            <p:nvPr/>
          </p:nvCxnSpPr>
          <p:spPr>
            <a:xfrm>
              <a:off x="6096000" y="50292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6096000" y="44958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6096000" y="39624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>
              <a:off x="6096000" y="34290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6079067" y="2895600"/>
              <a:ext cx="10837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2362200" y="57912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simple sentences</a:t>
            </a:r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4267200" y="57912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 </a:t>
            </a:r>
            <a:br>
              <a:rPr lang="en-US" dirty="0" smtClean="0"/>
            </a:br>
            <a:r>
              <a:rPr lang="en-US" dirty="0" smtClean="0"/>
              <a:t>simple sentences</a:t>
            </a:r>
            <a:endParaRPr 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6096000" y="57912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 </a:t>
            </a:r>
            <a:br>
              <a:rPr lang="en-US" dirty="0" smtClean="0"/>
            </a:br>
            <a:r>
              <a:rPr lang="en-US" dirty="0" smtClean="0"/>
              <a:t>simple sentences</a:t>
            </a:r>
            <a:endParaRPr lang="en-US" dirty="0"/>
          </a:p>
        </p:txBody>
      </p:sp>
      <p:sp>
        <p:nvSpPr>
          <p:cNvPr id="19" name="Freeform 18"/>
          <p:cNvSpPr/>
          <p:nvPr/>
        </p:nvSpPr>
        <p:spPr>
          <a:xfrm>
            <a:off x="1142999" y="1295400"/>
            <a:ext cx="1752601" cy="1474177"/>
          </a:xfrm>
          <a:custGeom>
            <a:avLst/>
            <a:gdLst>
              <a:gd name="connsiteX0" fmla="*/ 0 w 2180492"/>
              <a:gd name="connsiteY0" fmla="*/ 2013445 h 2013445"/>
              <a:gd name="connsiteX1" fmla="*/ 729761 w 2180492"/>
              <a:gd name="connsiteY1" fmla="*/ 6 h 2013445"/>
              <a:gd name="connsiteX2" fmla="*/ 2180492 w 2180492"/>
              <a:gd name="connsiteY2" fmla="*/ 1995860 h 2013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0492" h="2013445">
                <a:moveTo>
                  <a:pt x="0" y="2013445"/>
                </a:moveTo>
                <a:cubicBezTo>
                  <a:pt x="183173" y="1008191"/>
                  <a:pt x="366346" y="2937"/>
                  <a:pt x="729761" y="6"/>
                </a:cubicBezTo>
                <a:cubicBezTo>
                  <a:pt x="1093176" y="-2925"/>
                  <a:pt x="1636834" y="996467"/>
                  <a:pt x="2180492" y="1995860"/>
                </a:cubicBezTo>
              </a:path>
            </a:pathLst>
          </a:cu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 132"/>
          <p:cNvSpPr/>
          <p:nvPr/>
        </p:nvSpPr>
        <p:spPr>
          <a:xfrm>
            <a:off x="3124200" y="1295400"/>
            <a:ext cx="1600200" cy="1474177"/>
          </a:xfrm>
          <a:custGeom>
            <a:avLst/>
            <a:gdLst>
              <a:gd name="connsiteX0" fmla="*/ 0 w 2180492"/>
              <a:gd name="connsiteY0" fmla="*/ 2013445 h 2013445"/>
              <a:gd name="connsiteX1" fmla="*/ 729761 w 2180492"/>
              <a:gd name="connsiteY1" fmla="*/ 6 h 2013445"/>
              <a:gd name="connsiteX2" fmla="*/ 2180492 w 2180492"/>
              <a:gd name="connsiteY2" fmla="*/ 1995860 h 2013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0492" h="2013445">
                <a:moveTo>
                  <a:pt x="0" y="2013445"/>
                </a:moveTo>
                <a:cubicBezTo>
                  <a:pt x="183173" y="1008191"/>
                  <a:pt x="366346" y="2937"/>
                  <a:pt x="729761" y="6"/>
                </a:cubicBezTo>
                <a:cubicBezTo>
                  <a:pt x="1093176" y="-2925"/>
                  <a:pt x="1636834" y="996467"/>
                  <a:pt x="2180492" y="1995860"/>
                </a:cubicBezTo>
              </a:path>
            </a:pathLst>
          </a:cu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>
            <a:off x="4953000" y="1295400"/>
            <a:ext cx="1600200" cy="1474177"/>
          </a:xfrm>
          <a:custGeom>
            <a:avLst/>
            <a:gdLst>
              <a:gd name="connsiteX0" fmla="*/ 0 w 2180492"/>
              <a:gd name="connsiteY0" fmla="*/ 2013445 h 2013445"/>
              <a:gd name="connsiteX1" fmla="*/ 729761 w 2180492"/>
              <a:gd name="connsiteY1" fmla="*/ 6 h 2013445"/>
              <a:gd name="connsiteX2" fmla="*/ 2180492 w 2180492"/>
              <a:gd name="connsiteY2" fmla="*/ 1995860 h 2013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0492" h="2013445">
                <a:moveTo>
                  <a:pt x="0" y="2013445"/>
                </a:moveTo>
                <a:cubicBezTo>
                  <a:pt x="183173" y="1008191"/>
                  <a:pt x="366346" y="2937"/>
                  <a:pt x="729761" y="6"/>
                </a:cubicBezTo>
                <a:cubicBezTo>
                  <a:pt x="1093176" y="-2925"/>
                  <a:pt x="1636834" y="996467"/>
                  <a:pt x="2180492" y="1995860"/>
                </a:cubicBezTo>
              </a:path>
            </a:pathLst>
          </a:cu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7848600" y="3377625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…</a:t>
            </a:r>
            <a:endParaRPr lang="en-US" sz="2400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4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3" grpId="0" animBg="1"/>
      <p:bldP spid="134" grpId="0" animBg="1"/>
      <p:bldP spid="1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720342"/>
              </p:ext>
            </p:extLst>
          </p:nvPr>
        </p:nvGraphicFramePr>
        <p:xfrm>
          <a:off x="2752725" y="1419225"/>
          <a:ext cx="3638550" cy="401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Maximum Stack 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6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K-Best Size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841512"/>
              </p:ext>
            </p:extLst>
          </p:nvPr>
        </p:nvGraphicFramePr>
        <p:xfrm>
          <a:off x="2757487" y="1433512"/>
          <a:ext cx="3629025" cy="3990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751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7738593"/>
              </p:ext>
            </p:extLst>
          </p:nvPr>
        </p:nvGraphicFramePr>
        <p:xfrm>
          <a:off x="2747962" y="1433512"/>
          <a:ext cx="3648075" cy="3990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7510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M-Oracle</a:t>
            </a:r>
            <a:endParaRPr lang="en-US" dirty="0"/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1570471"/>
              </p:ext>
            </p:extLst>
          </p:nvPr>
        </p:nvGraphicFramePr>
        <p:xfrm>
          <a:off x="2747962" y="1443037"/>
          <a:ext cx="3648076" cy="397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7510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12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524000" y="1524000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John       comes from      England     ,    works  for        IMF      ,  and    is       an active hiker     .</a:t>
            </a:r>
            <a:endParaRPr lang="en-US" sz="12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524000" y="1524000"/>
            <a:ext cx="489857" cy="505599"/>
            <a:chOff x="1905000" y="990600"/>
            <a:chExt cx="1066800" cy="505599"/>
          </a:xfrm>
        </p:grpSpPr>
        <p:sp>
          <p:nvSpPr>
            <p:cNvPr id="16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062480" y="1219200"/>
              <a:ext cx="8382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48000" y="1524000"/>
            <a:ext cx="685800" cy="505599"/>
            <a:chOff x="1905000" y="990600"/>
            <a:chExt cx="1066800" cy="505599"/>
          </a:xfrm>
        </p:grpSpPr>
        <p:sp>
          <p:nvSpPr>
            <p:cNvPr id="19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33600" y="1219200"/>
              <a:ext cx="624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24400" y="1524000"/>
            <a:ext cx="533400" cy="505599"/>
            <a:chOff x="1905000" y="990600"/>
            <a:chExt cx="1066800" cy="505599"/>
          </a:xfrm>
        </p:grpSpPr>
        <p:sp>
          <p:nvSpPr>
            <p:cNvPr id="22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57400" y="12192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019800" y="1524000"/>
            <a:ext cx="1066800" cy="505599"/>
            <a:chOff x="1905000" y="990600"/>
            <a:chExt cx="1066800" cy="505599"/>
          </a:xfrm>
        </p:grpSpPr>
        <p:sp>
          <p:nvSpPr>
            <p:cNvPr id="28" name="AutoShape 30" descr="Purple mesh"/>
            <p:cNvSpPr>
              <a:spLocks noChangeArrowheads="1"/>
            </p:cNvSpPr>
            <p:nvPr/>
          </p:nvSpPr>
          <p:spPr bwMode="auto">
            <a:xfrm>
              <a:off x="1905000" y="990600"/>
              <a:ext cx="1066800" cy="304800"/>
            </a:xfrm>
            <a:prstGeom prst="parallelogram">
              <a:avLst>
                <a:gd name="adj" fmla="val 1171"/>
              </a:avLst>
            </a:prstGeom>
            <a:solidFill>
              <a:srgbClr val="00B0F0">
                <a:alpha val="30000"/>
              </a:srgbClr>
            </a:solidFill>
            <a:ln w="19050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57400" y="12192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NP</a:t>
              </a:r>
              <a:endParaRPr lang="en-US" sz="1200" b="1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057400" y="1524000"/>
            <a:ext cx="914400" cy="505599"/>
            <a:chOff x="1219200" y="990600"/>
            <a:chExt cx="685800" cy="505599"/>
          </a:xfrm>
        </p:grpSpPr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685800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19200" y="12192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903133" y="1524000"/>
            <a:ext cx="745067" cy="505599"/>
            <a:chOff x="1219200" y="990600"/>
            <a:chExt cx="685800" cy="505599"/>
          </a:xfrm>
        </p:grpSpPr>
        <p:sp>
          <p:nvSpPr>
            <p:cNvPr id="37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685800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19200" y="12192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638800" y="1524000"/>
            <a:ext cx="381000" cy="505599"/>
            <a:chOff x="1164337" y="990600"/>
            <a:chExt cx="1234439" cy="505599"/>
          </a:xfrm>
        </p:grpSpPr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1219200" y="990600"/>
              <a:ext cx="932688" cy="304800"/>
            </a:xfrm>
            <a:prstGeom prst="rect">
              <a:avLst/>
            </a:prstGeom>
            <a:solidFill>
              <a:srgbClr val="FF0000">
                <a:alpha val="30000"/>
              </a:srgbClr>
            </a:solidFill>
            <a:ln w="25400" cap="rnd">
              <a:solidFill>
                <a:schemeClr val="bg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64337" y="1219200"/>
              <a:ext cx="1234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VP</a:t>
              </a:r>
              <a:endParaRPr lang="en-US" sz="1200" b="1" dirty="0"/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4775200" y="2362200"/>
            <a:ext cx="635000" cy="1143000"/>
            <a:chOff x="4851400" y="3200400"/>
            <a:chExt cx="635000" cy="1143000"/>
          </a:xfrm>
        </p:grpSpPr>
        <p:cxnSp>
          <p:nvCxnSpPr>
            <p:cNvPr id="88" name="Straight Arrow Connector 87"/>
            <p:cNvCxnSpPr/>
            <p:nvPr/>
          </p:nvCxnSpPr>
          <p:spPr>
            <a:xfrm>
              <a:off x="48514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>
              <a:off x="4851400" y="3581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4851400" y="3962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>
              <a:off x="4851400" y="3200400"/>
              <a:ext cx="5969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851400" y="3200400"/>
              <a:ext cx="635000" cy="1143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4851400" y="3581400"/>
              <a:ext cx="61595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>
              <a:off x="4851400" y="3581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 flipV="1">
              <a:off x="48514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4851400" y="3962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>
              <a:off x="4851400" y="3200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 flipV="1">
              <a:off x="48514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/>
            <p:nvPr/>
          </p:nvCxnSpPr>
          <p:spPr>
            <a:xfrm flipV="1">
              <a:off x="4864100" y="3200400"/>
              <a:ext cx="6223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oup 160"/>
          <p:cNvGrpSpPr/>
          <p:nvPr/>
        </p:nvGrpSpPr>
        <p:grpSpPr>
          <a:xfrm>
            <a:off x="3098800" y="2362200"/>
            <a:ext cx="635000" cy="1143000"/>
            <a:chOff x="3175000" y="3200400"/>
            <a:chExt cx="635000" cy="1143000"/>
          </a:xfrm>
        </p:grpSpPr>
        <p:cxnSp>
          <p:nvCxnSpPr>
            <p:cNvPr id="85" name="Straight Arrow Connector 84"/>
            <p:cNvCxnSpPr/>
            <p:nvPr/>
          </p:nvCxnSpPr>
          <p:spPr>
            <a:xfrm>
              <a:off x="3175000" y="3200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3175000" y="3581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3175000" y="3962400"/>
              <a:ext cx="635000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3175000" y="3200400"/>
              <a:ext cx="635000" cy="1143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 flipV="1">
              <a:off x="3175000" y="3200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31750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>
              <a:off x="3175000" y="3200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/>
            <p:nvPr/>
          </p:nvCxnSpPr>
          <p:spPr>
            <a:xfrm flipV="1">
              <a:off x="3175000" y="3200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 flipV="1">
              <a:off x="3175000" y="3581400"/>
              <a:ext cx="635000" cy="762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/>
            <p:nvPr/>
          </p:nvCxnSpPr>
          <p:spPr>
            <a:xfrm flipV="1">
              <a:off x="31750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/>
            <p:cNvCxnSpPr/>
            <p:nvPr/>
          </p:nvCxnSpPr>
          <p:spPr>
            <a:xfrm flipV="1">
              <a:off x="3175000" y="3962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/>
            <p:nvPr/>
          </p:nvCxnSpPr>
          <p:spPr>
            <a:xfrm>
              <a:off x="3175000" y="3581400"/>
              <a:ext cx="635000" cy="38100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/>
          <p:cNvGrpSpPr/>
          <p:nvPr/>
        </p:nvGrpSpPr>
        <p:grpSpPr>
          <a:xfrm>
            <a:off x="1828800" y="2209800"/>
            <a:ext cx="1371600" cy="1877199"/>
            <a:chOff x="1905000" y="3048000"/>
            <a:chExt cx="1371600" cy="1877199"/>
          </a:xfrm>
        </p:grpSpPr>
        <p:grpSp>
          <p:nvGrpSpPr>
            <p:cNvPr id="4" name="Group 3"/>
            <p:cNvGrpSpPr/>
            <p:nvPr/>
          </p:nvGrpSpPr>
          <p:grpSpPr>
            <a:xfrm>
              <a:off x="1981200" y="3048000"/>
              <a:ext cx="1143000" cy="1447800"/>
              <a:chOff x="685800" y="2895600"/>
              <a:chExt cx="1143000" cy="1447800"/>
            </a:xfrm>
          </p:grpSpPr>
          <p:sp>
            <p:nvSpPr>
              <p:cNvPr id="48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276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England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49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2895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John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50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657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IMF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53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4038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latin typeface="Calibri" pitchFamily="34" charset="0"/>
                  </a:rPr>
                  <a:t>a</a:t>
                </a:r>
                <a:r>
                  <a:rPr lang="en-US" sz="1200" dirty="0" smtClean="0">
                    <a:latin typeface="Calibri" pitchFamily="34" charset="0"/>
                  </a:rPr>
                  <a:t>n active hiker</a:t>
                </a:r>
                <a:endParaRPr lang="en-US" sz="1200" dirty="0">
                  <a:latin typeface="Calibri" pitchFamily="34" charset="0"/>
                </a:endParaRPr>
              </a:p>
            </p:txBody>
          </p:sp>
        </p:grpSp>
        <p:sp>
          <p:nvSpPr>
            <p:cNvPr id="163" name="TextBox 162"/>
            <p:cNvSpPr txBox="1"/>
            <p:nvPr/>
          </p:nvSpPr>
          <p:spPr>
            <a:xfrm>
              <a:off x="1905000" y="464820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Subject</a:t>
              </a:r>
              <a:endParaRPr lang="en-US" sz="1200" dirty="0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5410200" y="2209800"/>
            <a:ext cx="1371600" cy="1877199"/>
            <a:chOff x="5486400" y="3048000"/>
            <a:chExt cx="1371600" cy="1877199"/>
          </a:xfrm>
        </p:grpSpPr>
        <p:grpSp>
          <p:nvGrpSpPr>
            <p:cNvPr id="79" name="Group 78"/>
            <p:cNvGrpSpPr/>
            <p:nvPr/>
          </p:nvGrpSpPr>
          <p:grpSpPr>
            <a:xfrm>
              <a:off x="5562600" y="3048000"/>
              <a:ext cx="1143000" cy="1447800"/>
              <a:chOff x="685800" y="2895600"/>
              <a:chExt cx="1143000" cy="1447800"/>
            </a:xfrm>
          </p:grpSpPr>
          <p:sp>
            <p:nvSpPr>
              <p:cNvPr id="80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276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England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1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2895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John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2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3657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 smtClean="0">
                    <a:latin typeface="Calibri" pitchFamily="34" charset="0"/>
                  </a:rPr>
                  <a:t>IMF</a:t>
                </a:r>
                <a:endParaRPr lang="en-US" sz="1200" dirty="0">
                  <a:latin typeface="Calibri" pitchFamily="34" charset="0"/>
                </a:endParaRPr>
              </a:p>
            </p:txBody>
          </p:sp>
          <p:sp>
            <p:nvSpPr>
              <p:cNvPr id="83" name="AutoShape 30" descr="Purple mesh"/>
              <p:cNvSpPr>
                <a:spLocks noChangeArrowheads="1"/>
              </p:cNvSpPr>
              <p:nvPr/>
            </p:nvSpPr>
            <p:spPr bwMode="auto">
              <a:xfrm>
                <a:off x="685800" y="4038600"/>
                <a:ext cx="1143000" cy="304800"/>
              </a:xfrm>
              <a:prstGeom prst="parallelogram">
                <a:avLst>
                  <a:gd name="adj" fmla="val 1171"/>
                </a:avLst>
              </a:prstGeom>
              <a:solidFill>
                <a:srgbClr val="00B0F0">
                  <a:alpha val="30000"/>
                </a:srgbClr>
              </a:solidFill>
              <a:ln w="19050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latin typeface="Calibri" pitchFamily="34" charset="0"/>
                  </a:rPr>
                  <a:t>a</a:t>
                </a:r>
                <a:r>
                  <a:rPr lang="en-US" sz="1200" dirty="0" smtClean="0">
                    <a:latin typeface="Calibri" pitchFamily="34" charset="0"/>
                  </a:rPr>
                  <a:t>n active hiker</a:t>
                </a:r>
                <a:endParaRPr lang="en-US" sz="1200" dirty="0">
                  <a:latin typeface="Calibri" pitchFamily="34" charset="0"/>
                </a:endParaRPr>
              </a:p>
            </p:txBody>
          </p:sp>
        </p:grpSp>
        <p:sp>
          <p:nvSpPr>
            <p:cNvPr id="164" name="TextBox 163"/>
            <p:cNvSpPr txBox="1"/>
            <p:nvPr/>
          </p:nvSpPr>
          <p:spPr>
            <a:xfrm>
              <a:off x="5486400" y="4648200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Object</a:t>
              </a:r>
              <a:endParaRPr lang="en-US" sz="1200" dirty="0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3759200" y="2209800"/>
            <a:ext cx="965200" cy="1888867"/>
            <a:chOff x="3835400" y="3048000"/>
            <a:chExt cx="965200" cy="1888867"/>
          </a:xfrm>
        </p:grpSpPr>
        <p:grpSp>
          <p:nvGrpSpPr>
            <p:cNvPr id="160" name="Group 159"/>
            <p:cNvGrpSpPr/>
            <p:nvPr/>
          </p:nvGrpSpPr>
          <p:grpSpPr>
            <a:xfrm>
              <a:off x="3835400" y="3048000"/>
              <a:ext cx="965200" cy="1066800"/>
              <a:chOff x="3835400" y="3048000"/>
              <a:chExt cx="965200" cy="1066800"/>
            </a:xfrm>
          </p:grpSpPr>
          <p:sp>
            <p:nvSpPr>
              <p:cNvPr id="57" name="Rectangle 12"/>
              <p:cNvSpPr>
                <a:spLocks noChangeArrowheads="1"/>
              </p:cNvSpPr>
              <p:nvPr/>
            </p:nvSpPr>
            <p:spPr bwMode="auto">
              <a:xfrm>
                <a:off x="3835400" y="3048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comes from</a:t>
                </a:r>
                <a:endParaRPr lang="en-US" sz="1200" dirty="0"/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>
                <a:off x="3835400" y="3429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works for</a:t>
                </a:r>
                <a:endParaRPr lang="en-US" sz="1200" dirty="0"/>
              </a:p>
            </p:txBody>
          </p:sp>
          <p:sp>
            <p:nvSpPr>
              <p:cNvPr id="59" name="Rectangle 12"/>
              <p:cNvSpPr>
                <a:spLocks noChangeArrowheads="1"/>
              </p:cNvSpPr>
              <p:nvPr/>
            </p:nvSpPr>
            <p:spPr bwMode="auto">
              <a:xfrm>
                <a:off x="3835400" y="3810000"/>
                <a:ext cx="965200" cy="304800"/>
              </a:xfrm>
              <a:prstGeom prst="rect">
                <a:avLst/>
              </a:prstGeom>
              <a:solidFill>
                <a:srgbClr val="FF0000">
                  <a:alpha val="30000"/>
                </a:srgbClr>
              </a:solidFill>
              <a:ln w="25400" cap="rnd">
                <a:solidFill>
                  <a:schemeClr val="bg1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200" dirty="0" smtClean="0"/>
                  <a:t>is</a:t>
                </a:r>
                <a:endParaRPr lang="en-US" sz="1200" dirty="0"/>
              </a:p>
            </p:txBody>
          </p:sp>
        </p:grpSp>
        <p:sp>
          <p:nvSpPr>
            <p:cNvPr id="165" name="TextBox 164"/>
            <p:cNvSpPr txBox="1"/>
            <p:nvPr/>
          </p:nvSpPr>
          <p:spPr>
            <a:xfrm>
              <a:off x="3962400" y="4659868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Verb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8076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409CC-E6BA-492C-8B06-FBFC2D0EA609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81200" y="1399401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John  comes from                           , works  for                    ,   and    is                                 .</a:t>
            </a:r>
            <a:endParaRPr lang="en-US" sz="1200" dirty="0"/>
          </a:p>
        </p:txBody>
      </p:sp>
      <p:sp>
        <p:nvSpPr>
          <p:cNvPr id="6" name="AutoShape 30" descr="Purple mesh"/>
          <p:cNvSpPr>
            <a:spLocks noChangeArrowheads="1"/>
          </p:cNvSpPr>
          <p:nvPr/>
        </p:nvSpPr>
        <p:spPr bwMode="auto">
          <a:xfrm>
            <a:off x="3276599" y="1371600"/>
            <a:ext cx="762001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 smtClean="0">
                <a:latin typeface="Calibri" pitchFamily="34" charset="0"/>
              </a:rPr>
              <a:t>England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7" name="AutoShape 30" descr="Purple mesh"/>
          <p:cNvSpPr>
            <a:spLocks noChangeArrowheads="1"/>
          </p:cNvSpPr>
          <p:nvPr/>
        </p:nvSpPr>
        <p:spPr bwMode="auto">
          <a:xfrm>
            <a:off x="4876800" y="1371600"/>
            <a:ext cx="457200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 smtClean="0">
                <a:latin typeface="Calibri" pitchFamily="34" charset="0"/>
              </a:rPr>
              <a:t>IMF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8" name="AutoShape 30" descr="Purple mesh"/>
          <p:cNvSpPr>
            <a:spLocks noChangeArrowheads="1"/>
          </p:cNvSpPr>
          <p:nvPr/>
        </p:nvSpPr>
        <p:spPr bwMode="auto">
          <a:xfrm>
            <a:off x="6172200" y="1371600"/>
            <a:ext cx="990600" cy="304800"/>
          </a:xfrm>
          <a:prstGeom prst="parallelogram">
            <a:avLst>
              <a:gd name="adj" fmla="val 1171"/>
            </a:avLst>
          </a:prstGeom>
          <a:solidFill>
            <a:srgbClr val="00B0F0">
              <a:alpha val="30000"/>
            </a:srgbClr>
          </a:solidFill>
          <a:ln w="19050">
            <a:solidFill>
              <a:srgbClr val="FFFF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Calibri" pitchFamily="34" charset="0"/>
              </a:rPr>
              <a:t>a</a:t>
            </a:r>
            <a:r>
              <a:rPr lang="en-US" sz="1200" dirty="0" smtClean="0">
                <a:latin typeface="Calibri" pitchFamily="34" charset="0"/>
              </a:rPr>
              <a:t>n active hiker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62200" y="2667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42672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Left-Right decoding according to objects 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057400" y="182880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John comes from England 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57400" y="22860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IMF comes from England 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57400" y="30480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an active hiker is England 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057401" y="2133600"/>
            <a:ext cx="1600200" cy="1219200"/>
            <a:chOff x="1600200" y="2133600"/>
            <a:chExt cx="1769533" cy="12192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600200" y="21336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600200" y="2590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00200" y="3352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4114800" y="18288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John comes from IMF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14800" y="22860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John works for IMF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14800" y="30480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an active hiker is IMF 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4097867" y="2133600"/>
            <a:ext cx="1236133" cy="1219200"/>
            <a:chOff x="3793067" y="2133600"/>
            <a:chExt cx="1786466" cy="121920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3793067" y="21336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93067" y="2590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810000" y="3352800"/>
              <a:ext cx="176953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/>
          <p:cNvCxnSpPr/>
          <p:nvPr/>
        </p:nvCxnSpPr>
        <p:spPr>
          <a:xfrm>
            <a:off x="5698067" y="2133600"/>
            <a:ext cx="16933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0" y="18288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John comes from an active hiker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19600" y="2667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19800" y="2297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5698067" y="2971800"/>
            <a:ext cx="16933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15000" y="2667000"/>
            <a:ext cx="1752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John is an active hiker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15000" y="3048000"/>
            <a:ext cx="2209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badi MT Condensed Light"/>
                <a:cs typeface="Abadi MT Condensed Light"/>
              </a:rPr>
              <a:t>IMF is an active hiker</a:t>
            </a:r>
            <a:endParaRPr lang="en-US" sz="1200" dirty="0">
              <a:latin typeface="Abadi MT Condensed Light"/>
              <a:cs typeface="Abadi MT Condensed Light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5715000" y="3352800"/>
            <a:ext cx="1676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3657600" y="2133600"/>
            <a:ext cx="440267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3657600" y="2133600"/>
            <a:ext cx="454873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657600" y="2133600"/>
            <a:ext cx="440267" cy="457200"/>
          </a:xfrm>
          <a:prstGeom prst="straightConnector1">
            <a:avLst/>
          </a:prstGeom>
          <a:ln w="3492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314184" y="2590800"/>
            <a:ext cx="400816" cy="381000"/>
          </a:xfrm>
          <a:prstGeom prst="straightConnector1">
            <a:avLst/>
          </a:prstGeom>
          <a:ln w="34925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657600" y="2133600"/>
            <a:ext cx="440267" cy="457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657600" y="2590800"/>
            <a:ext cx="440267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657600" y="2590800"/>
            <a:ext cx="454873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505201" y="3352800"/>
            <a:ext cx="592666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3657600" y="2590800"/>
            <a:ext cx="440267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3657600" y="2133600"/>
            <a:ext cx="440267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319394" y="2133600"/>
            <a:ext cx="395606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5319394" y="2133600"/>
            <a:ext cx="395606" cy="838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5334000" y="2133600"/>
            <a:ext cx="381000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V="1">
            <a:off x="5319394" y="2133600"/>
            <a:ext cx="395606" cy="457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5334000" y="2590800"/>
            <a:ext cx="381000" cy="762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5334000" y="2133600"/>
            <a:ext cx="381000" cy="12192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5334000" y="3352800"/>
            <a:ext cx="381000" cy="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5334000" y="2971800"/>
            <a:ext cx="381000" cy="381000"/>
          </a:xfrm>
          <a:prstGeom prst="straightConnector1">
            <a:avLst/>
          </a:prstGeom>
          <a:ln w="15875"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67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size</a:t>
            </a:r>
            <a:endParaRPr lang="en-US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619847"/>
              </p:ext>
            </p:extLst>
          </p:nvPr>
        </p:nvGraphicFramePr>
        <p:xfrm>
          <a:off x="1828800" y="1143000"/>
          <a:ext cx="5486401" cy="550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8021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dirty="0" smtClean="0"/>
              <a:t>-Best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008653"/>
              </p:ext>
            </p:extLst>
          </p:nvPr>
        </p:nvGraphicFramePr>
        <p:xfrm>
          <a:off x="2133600" y="1219200"/>
          <a:ext cx="5476875" cy="551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9476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9086518"/>
              </p:ext>
            </p:extLst>
          </p:nvPr>
        </p:nvGraphicFramePr>
        <p:xfrm>
          <a:off x="1828800" y="1352550"/>
          <a:ext cx="5486399" cy="550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081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M-Oracl</a:t>
            </a:r>
            <a:r>
              <a:rPr lang="en-US" dirty="0"/>
              <a:t>e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135912"/>
              </p:ext>
            </p:extLst>
          </p:nvPr>
        </p:nvGraphicFramePr>
        <p:xfrm>
          <a:off x="1752600" y="1219200"/>
          <a:ext cx="5486401" cy="551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860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298</Words>
  <Application>Microsoft Office PowerPoint</Application>
  <PresentationFormat>On-screen Show (4:3)</PresentationFormat>
  <Paragraphs>138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Decoding: beam search</vt:lpstr>
      <vt:lpstr>Maximum Stack Size</vt:lpstr>
      <vt:lpstr>K-Best Size</vt:lpstr>
      <vt:lpstr>C</vt:lpstr>
      <vt:lpstr>M-Oracle</vt:lpstr>
      <vt:lpstr>PowerPoint Presentation</vt:lpstr>
      <vt:lpstr>PowerPoint Presentation</vt:lpstr>
      <vt:lpstr>Stack size</vt:lpstr>
      <vt:lpstr>K-Best</vt:lpstr>
      <vt:lpstr>C</vt:lpstr>
      <vt:lpstr>M-Oracle</vt:lpstr>
    </vt:vector>
  </TitlesOfParts>
  <Company>Carnegie Mellon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</dc:creator>
  <cp:lastModifiedBy>nguyen</cp:lastModifiedBy>
  <cp:revision>21</cp:revision>
  <cp:lastPrinted>2011-05-12T01:46:55Z</cp:lastPrinted>
  <dcterms:created xsi:type="dcterms:W3CDTF">2011-05-04T19:07:13Z</dcterms:created>
  <dcterms:modified xsi:type="dcterms:W3CDTF">2011-05-12T21:15:37Z</dcterms:modified>
</cp:coreProperties>
</file>